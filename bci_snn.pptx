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rels" ContentType="application/vnd.openxmlformats-package.relationships+xml"/>
  <Override PartName="/customXml/itemProps1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71" r:id="rId8"/>
    <p:sldId id="260" r:id="rId9"/>
    <p:sldId id="261" r:id="rId10"/>
    <p:sldId id="272" r:id="rId11"/>
    <p:sldId id="262" r:id="rId12"/>
    <p:sldId id="263" r:id="rId13"/>
    <p:sldId id="264" r:id="rId14"/>
    <p:sldId id="265" r:id="rId15"/>
    <p:sldId id="266" r:id="rId16"/>
    <p:sldId id="274" r:id="rId17"/>
    <p:sldId id="267" r:id="rId18"/>
    <p:sldId id="268" r:id="rId19"/>
    <p:sldId id="269" r:id="rId20"/>
    <p:sldId id="273" r:id="rId21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5" Type="http://schemas.openxmlformats.org/officeDocument/2006/relationships/customXml" Target="../customXml/item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Weight</c:v>
                </c:pt>
              </c:strCache>
            </c:strRef>
          </c:tx>
          <c:spPr>
            <a:solidFill>
              <a:srgbClr val="00D2FF"/>
            </a:solidFill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lang="zh-CN" sz="750" b="0" i="0" u="none" strike="noStrike" kern="1200" baseline="0">
                    <a:solidFill>
                      <a:srgbClr val="A0A0A0"/>
                    </a:solidFill>
                    <a:latin typeface="Calibri" panose="020F0502020204030204"/>
                    <a:ea typeface="MiSans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Sheet1!$A$2:$A$13</c:f>
              <c:strCache>
                <c:ptCount val="12"/>
                <c:pt idx="0">
                  <c:v>t=0</c:v>
                </c:pt>
                <c:pt idx="1">
                  <c:v>t=1</c:v>
                </c:pt>
                <c:pt idx="2">
                  <c:v>t=2</c:v>
                </c:pt>
                <c:pt idx="3">
                  <c:v>t=3</c:v>
                </c:pt>
                <c:pt idx="4">
                  <c:v>t=4</c:v>
                </c:pt>
                <c:pt idx="5">
                  <c:v>t=5</c:v>
                </c:pt>
                <c:pt idx="6">
                  <c:v>t=6</c:v>
                </c:pt>
                <c:pt idx="7">
                  <c:v>t=7</c:v>
                </c:pt>
                <c:pt idx="8">
                  <c:v>t=8</c:v>
                </c:pt>
                <c:pt idx="9">
                  <c:v>t=9</c:v>
                </c:pt>
                <c:pt idx="10">
                  <c:v>t=10</c:v>
                </c:pt>
                <c:pt idx="11">
                  <c:v>t=11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3.47</c:v>
                </c:pt>
                <c:pt idx="1">
                  <c:v>2.48</c:v>
                </c:pt>
                <c:pt idx="2">
                  <c:v>1.78</c:v>
                </c:pt>
                <c:pt idx="3">
                  <c:v>1.27</c:v>
                </c:pt>
                <c:pt idx="4">
                  <c:v>0.91</c:v>
                </c:pt>
                <c:pt idx="5">
                  <c:v>0.65</c:v>
                </c:pt>
                <c:pt idx="6">
                  <c:v>0.47</c:v>
                </c:pt>
                <c:pt idx="7">
                  <c:v>0.34</c:v>
                </c:pt>
                <c:pt idx="8">
                  <c:v>0.24</c:v>
                </c:pt>
                <c:pt idx="9">
                  <c:v>0.17</c:v>
                </c:pt>
                <c:pt idx="10">
                  <c:v>0.12</c:v>
                </c:pt>
                <c:pt idx="11">
                  <c:v>0.09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 w="9525" cap="flat" cmpd="sng" algn="ctr">
            <a:solidFill>
              <a:srgbClr val="54555A"/>
            </a:solidFill>
            <a:prstDash val="solid"/>
            <a:round/>
          </a:ln>
        </c:spPr>
        <c:txPr>
          <a:bodyPr rot="0"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lang="zh-CN" sz="750" b="0" i="0" u="none" strike="noStrike" kern="1200" baseline="0">
                <a:solidFill>
                  <a:srgbClr val="54555A"/>
                </a:solidFill>
                <a:latin typeface="Calibri" panose="020F0502020204030204"/>
                <a:ea typeface="MiSans"/>
                <a:cs typeface="+mn-cs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rgbClr val="1A4D7A"/>
              </a:solidFill>
              <a:prstDash val="dash"/>
              <a:round/>
            </a:ln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>
                  <a:defRPr lang="zh-CN" sz="1800" b="1" i="0" u="none" strike="noStrike" kern="1200" baseline="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zh-CN" sz="750">
                    <a:solidFill>
                      <a:srgbClr val="54555A"/>
                    </a:solidFill>
                    <a:latin typeface="Calibri" panose="020F0502020204030204"/>
                    <a:ea typeface="MiSans"/>
                  </a:rPr>
                  <a:t>Weight Value</a:t>
                </a:r>
                <a:endParaRPr lang="zh-CN" sz="750">
                  <a:solidFill>
                    <a:srgbClr val="54555A"/>
                  </a:solidFill>
                  <a:latin typeface="Calibri" panose="020F0502020204030204"/>
                  <a:ea typeface="MiSans"/>
                </a:endParaRP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nextTo"/>
        <c:spPr>
          <a:ln w="9525" cap="flat" cmpd="sng" algn="ctr">
            <a:solidFill>
              <a:srgbClr val="54555A"/>
            </a:solidFill>
            <a:prstDash val="solid"/>
            <a:round/>
          </a:ln>
        </c:spPr>
        <c:txPr>
          <a:bodyPr rot="0" spcFirstLastPara="1" vertOverflow="ellipsis" vert="horz" wrap="square" lIns="38100" tIns="19050" rIns="38100" bIns="19050" anchor="ctr" anchorCtr="1">
            <a:spAutoFit/>
          </a:bodyPr>
          <a:lstStyle/>
          <a:p>
            <a:pPr>
              <a:defRPr lang="zh-CN" sz="750" b="0" i="0" u="none" strike="noStrike" kern="1200" baseline="0">
                <a:solidFill>
                  <a:srgbClr val="54555A"/>
                </a:solidFill>
                <a:latin typeface="Calibri" panose="020F0502020204030204"/>
                <a:ea typeface="MiSans"/>
                <a:cs typeface="+mn-cs"/>
              </a:defRPr>
            </a:pPr>
          </a:p>
        </c:txPr>
        <c:crossAx val="-2068027336"/>
        <c:crosses val="autoZero"/>
        <c:crossBetween val="between"/>
      </c:valAx>
    </c:plotArea>
    <c:plotVisOnly val="1"/>
    <c:dispBlanksAs val="gap"/>
    <c:showDLblsOverMax val="0"/>
    <c:extLst>
      <c:ext uri="{0b15fc19-7d7d-44ad-8c2d-2c3a37ce22c3}">
        <chartProps xmlns="https://web.wps.cn/et/2018/main" chartId="{b9ebfbe3-7e66-4d40-bf6a-a722a418a90c}"/>
      </c:ext>
    </c:extLst>
  </c:chart>
  <c:spPr>
    <a:solidFill>
      <a:srgbClr val="0F3460"/>
    </a:solidFill>
  </c:spPr>
  <c:txPr>
    <a:bodyPr spcFirstLastPara="1" vertOverflow="ellipsis" vert="horz" wrap="square" lIns="38100" tIns="19050" rIns="38100" bIns="19050" anchor="ctr" anchorCtr="1">
      <a:spAutoFit/>
    </a:bodyPr>
    <a:lstStyle/>
    <a:p>
      <a:pPr>
        <a:defRPr lang="zh-CN" sz="1800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&lt;!--pageType:cover--&gt;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&lt;!--pageType:table_of_contents--&gt;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&lt;!--pageType:chapter--&gt;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&lt;!--pageType:content--&gt;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5" Type="http://schemas.openxmlformats.org/officeDocument/2006/relationships/notesSlide" Target="../notesSlides/notesSlide4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chart" Target="../charts/char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50000">
              <a:srgbClr val="004D80"/>
            </a:gs>
            <a:gs pos="100000">
              <a:srgbClr val="001A3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deco-circle-1"/>
          <p:cNvSpPr/>
          <p:nvPr/>
        </p:nvSpPr>
        <p:spPr>
          <a:xfrm>
            <a:off x="9525000" y="476250"/>
            <a:ext cx="1905000" cy="1905000"/>
          </a:xfrm>
          <a:prstGeom prst="ellipse">
            <a:avLst/>
          </a:prstGeom>
          <a:solidFill>
            <a:srgbClr val="00D2FF">
              <a:alpha val="3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deco-circle-2"/>
          <p:cNvSpPr/>
          <p:nvPr/>
        </p:nvSpPr>
        <p:spPr>
          <a:xfrm>
            <a:off x="10477500" y="1428750"/>
            <a:ext cx="1143000" cy="1143000"/>
          </a:xfrm>
          <a:prstGeom prst="ellipse">
            <a:avLst/>
          </a:prstGeom>
          <a:solidFill>
            <a:srgbClr val="00D2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0">
            <a:srgbClr val="FFFFFF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" name="dsl:deco-line-1"/>
          <p:cNvCxnSpPr/>
          <p:nvPr/>
        </p:nvCxnSpPr>
        <p:spPr>
          <a:xfrm>
            <a:off x="640080" y="1875155"/>
            <a:ext cx="1905000" cy="0"/>
          </a:xfrm>
          <a:prstGeom prst="straightConnector1">
            <a:avLst/>
          </a:prstGeom>
          <a:ln w="38100">
            <a:solidFill>
              <a:srgbClr val="00D2FF">
                <a:alpha val="60000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sl:cover-title|s=$title"/>
          <p:cNvSpPr txBox="1"/>
          <p:nvPr/>
        </p:nvSpPr>
        <p:spPr>
          <a:xfrm>
            <a:off x="571500" y="2381250"/>
            <a:ext cx="8572500" cy="1143000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algn="l"/>
            <a:r>
              <a:rPr sz="3300" b="1" noProof="1">
                <a:solidFill>
                  <a:srgbClr val="FFFFFF"/>
                </a:solidFill>
                <a:latin typeface="MiSans"/>
                <a:ea typeface="MiSans"/>
              </a:rPr>
              <a:t>基于</a:t>
            </a:r>
            <a:r>
              <a:rPr lang="zh-CN" sz="3300" b="1" noProof="1">
                <a:solidFill>
                  <a:srgbClr val="FFFFFF"/>
                </a:solidFill>
                <a:latin typeface="MiSans"/>
                <a:ea typeface="MiSans"/>
              </a:rPr>
              <a:t>传统脑机接口算法融合</a:t>
            </a:r>
            <a:r>
              <a:rPr sz="3300" b="1" noProof="1">
                <a:solidFill>
                  <a:srgbClr val="FFFFFF"/>
                </a:solidFill>
                <a:latin typeface="MiSans"/>
                <a:ea typeface="MiSans"/>
              </a:rPr>
              <a:t>深度脉冲神经网络的SSVEP脑机接口</a:t>
            </a:r>
            <a:r>
              <a:rPr lang="en-US" sz="3300" b="1" noProof="1">
                <a:solidFill>
                  <a:srgbClr val="FF0000"/>
                </a:solidFill>
                <a:latin typeface="MiSans"/>
                <a:ea typeface="MiSans"/>
              </a:rPr>
              <a:t>40</a:t>
            </a:r>
            <a:r>
              <a:rPr sz="3300" b="1" noProof="1">
                <a:solidFill>
                  <a:srgbClr val="FFFFFF"/>
                </a:solidFill>
                <a:latin typeface="MiSans"/>
                <a:ea typeface="MiSans"/>
              </a:rPr>
              <a:t>分类</a:t>
            </a:r>
            <a:endParaRPr sz="33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6" name="dsl:cover-subtitle|s=$subtitle"/>
          <p:cNvSpPr txBox="1"/>
          <p:nvPr/>
        </p:nvSpPr>
        <p:spPr>
          <a:xfrm>
            <a:off x="640080" y="381762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noProof="1">
                <a:solidFill>
                  <a:srgbClr val="00D2FF"/>
                </a:solidFill>
                <a:latin typeface="MiSans"/>
                <a:ea typeface="MiSans"/>
              </a:rPr>
              <a:t>FB-SpikeSSVEPformer </a:t>
            </a:r>
            <a:endParaRPr sz="1650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cxnSp>
        <p:nvCxnSpPr>
          <p:cNvPr id="7" name="dsl:cover-divider"/>
          <p:cNvCxnSpPr/>
          <p:nvPr/>
        </p:nvCxnSpPr>
        <p:spPr>
          <a:xfrm>
            <a:off x="571500" y="4953000"/>
            <a:ext cx="3810000" cy="0"/>
          </a:xfrm>
          <a:prstGeom prst="straightConnector1">
            <a:avLst/>
          </a:prstGeom>
          <a:ln w="25400">
            <a:solidFill>
              <a:srgbClr val="00D2FF">
                <a:alpha val="50196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dsl:cover-badge"/>
          <p:cNvSpPr/>
          <p:nvPr/>
        </p:nvSpPr>
        <p:spPr>
          <a:xfrm>
            <a:off x="1127125" y="5753100"/>
            <a:ext cx="1524000" cy="342900"/>
          </a:xfrm>
          <a:prstGeom prst="roundRect">
            <a:avLst>
              <a:gd name="adj" fmla="val 20000"/>
            </a:avLst>
          </a:prstGeom>
          <a:solidFill>
            <a:srgbClr val="00D2FF">
              <a:alpha val="18823"/>
            </a:srgbClr>
          </a:solidFill>
          <a:ln w="12700">
            <a:solidFill>
              <a:srgbClr val="00D2FF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cover-badge-text"/>
          <p:cNvSpPr txBox="1"/>
          <p:nvPr/>
        </p:nvSpPr>
        <p:spPr>
          <a:xfrm>
            <a:off x="1180465" y="5753100"/>
            <a:ext cx="1524000" cy="3429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ctr"/>
            <a:r>
              <a:rPr sz="1050" noProof="1">
                <a:solidFill>
                  <a:srgbClr val="00D2FF"/>
                </a:solidFill>
                <a:latin typeface="MiSans"/>
                <a:ea typeface="MiSans"/>
              </a:rPr>
              <a:t>SNN + BCI</a:t>
            </a:r>
            <a:endParaRPr sz="1050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100000">
              <a:srgbClr val="001A3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toc-title|s=$pageTitle"/>
          <p:cNvSpPr txBox="1"/>
          <p:nvPr/>
        </p:nvSpPr>
        <p:spPr>
          <a:xfrm>
            <a:off x="571500" y="47625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FFFFFF"/>
                </a:solidFill>
                <a:latin typeface="MiSans"/>
                <a:ea typeface="MiSans"/>
              </a:rPr>
              <a:t>目录</a:t>
            </a:r>
            <a:endParaRPr sz="21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cxnSp>
        <p:nvCxnSpPr>
          <p:cNvPr id="3" name="dsl:toc-divider"/>
          <p:cNvCxnSpPr/>
          <p:nvPr/>
        </p:nvCxnSpPr>
        <p:spPr>
          <a:xfrm>
            <a:off x="571500" y="1047750"/>
            <a:ext cx="11049000" cy="0"/>
          </a:xfrm>
          <a:prstGeom prst="straightConnector1">
            <a:avLst/>
          </a:prstGeom>
          <a:ln w="12700">
            <a:solidFill>
              <a:srgbClr val="00D2FF">
                <a:alpha val="25098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dsl:toc-item1-num"/>
          <p:cNvSpPr txBox="1"/>
          <p:nvPr/>
        </p:nvSpPr>
        <p:spPr>
          <a:xfrm>
            <a:off x="762000" y="1524000"/>
            <a:ext cx="571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0D2FF"/>
                </a:solidFill>
                <a:latin typeface="MiSans"/>
                <a:ea typeface="MiSans"/>
              </a:rPr>
              <a:t>01</a:t>
            </a:r>
            <a:endParaRPr sz="2700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5" name="dsl:toc-item1-title"/>
          <p:cNvSpPr txBox="1"/>
          <p:nvPr/>
        </p:nvSpPr>
        <p:spPr>
          <a:xfrm>
            <a:off x="1428750" y="1524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b="1" noProof="1">
                <a:solidFill>
                  <a:srgbClr val="FFFFFF"/>
                </a:solidFill>
                <a:latin typeface="MiSans"/>
                <a:ea typeface="MiSans"/>
              </a:rPr>
              <a:t>研究背景与数据集</a:t>
            </a:r>
            <a:endParaRPr sz="165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6" name="dsl:toc-item1-desc"/>
          <p:cNvSpPr txBox="1"/>
          <p:nvPr/>
        </p:nvSpPr>
        <p:spPr>
          <a:xfrm>
            <a:off x="1428750" y="1857375"/>
            <a:ext cx="4762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A0A0A0"/>
                </a:solidFill>
                <a:latin typeface="MiSans"/>
                <a:ea typeface="MiSans"/>
              </a:rPr>
              <a:t>BETA数据集介绍与SSVEP任务概述</a:t>
            </a:r>
            <a:endParaRPr sz="105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cxnSp>
        <p:nvCxnSpPr>
          <p:cNvPr id="7" name="dsl:toc-item1-line"/>
          <p:cNvCxnSpPr/>
          <p:nvPr/>
        </p:nvCxnSpPr>
        <p:spPr>
          <a:xfrm>
            <a:off x="762000" y="2286000"/>
            <a:ext cx="10477500" cy="0"/>
          </a:xfrm>
          <a:prstGeom prst="straightConnector1">
            <a:avLst/>
          </a:prstGeom>
          <a:ln w="12700">
            <a:solidFill>
              <a:srgbClr val="00D2FF">
                <a:alpha val="12549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sl:toc-item2-num"/>
          <p:cNvSpPr txBox="1"/>
          <p:nvPr/>
        </p:nvSpPr>
        <p:spPr>
          <a:xfrm>
            <a:off x="762000" y="2667000"/>
            <a:ext cx="571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0D2FF"/>
                </a:solidFill>
                <a:latin typeface="MiSans"/>
                <a:ea typeface="MiSans"/>
              </a:rPr>
              <a:t>02</a:t>
            </a:r>
            <a:endParaRPr sz="2700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9" name="dsl:toc-item2-title"/>
          <p:cNvSpPr txBox="1"/>
          <p:nvPr/>
        </p:nvSpPr>
        <p:spPr>
          <a:xfrm>
            <a:off x="1428750" y="2667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b="1" noProof="1">
                <a:solidFill>
                  <a:srgbClr val="FFFFFF"/>
                </a:solidFill>
                <a:latin typeface="MiSans"/>
                <a:ea typeface="MiSans"/>
              </a:rPr>
              <a:t>模型架构</a:t>
            </a:r>
            <a:endParaRPr sz="165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0" name="dsl:toc-item2-desc"/>
          <p:cNvSpPr txBox="1"/>
          <p:nvPr/>
        </p:nvSpPr>
        <p:spPr>
          <a:xfrm>
            <a:off x="1428750" y="3000375"/>
            <a:ext cx="4762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A0A0A0"/>
                </a:solidFill>
                <a:latin typeface="MiSans"/>
                <a:ea typeface="MiSans"/>
              </a:rPr>
              <a:t>FB-SSVEPformer V6 + 深度SNN融合</a:t>
            </a:r>
            <a:endParaRPr sz="105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cxnSp>
        <p:nvCxnSpPr>
          <p:cNvPr id="11" name="dsl:toc-item2-line"/>
          <p:cNvCxnSpPr/>
          <p:nvPr/>
        </p:nvCxnSpPr>
        <p:spPr>
          <a:xfrm>
            <a:off x="762000" y="3429000"/>
            <a:ext cx="10477500" cy="0"/>
          </a:xfrm>
          <a:prstGeom prst="straightConnector1">
            <a:avLst/>
          </a:prstGeom>
          <a:ln w="12700">
            <a:solidFill>
              <a:srgbClr val="00D2FF">
                <a:alpha val="12549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dsl:toc-item3-num"/>
          <p:cNvSpPr txBox="1"/>
          <p:nvPr/>
        </p:nvSpPr>
        <p:spPr>
          <a:xfrm>
            <a:off x="762000" y="3810000"/>
            <a:ext cx="571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0D2FF"/>
                </a:solidFill>
                <a:latin typeface="MiSans"/>
                <a:ea typeface="MiSans"/>
              </a:rPr>
              <a:t>03</a:t>
            </a:r>
            <a:endParaRPr sz="2700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13" name="dsl:toc-item3-title"/>
          <p:cNvSpPr txBox="1"/>
          <p:nvPr/>
        </p:nvSpPr>
        <p:spPr>
          <a:xfrm>
            <a:off x="1428750" y="3810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b="1" noProof="1">
                <a:solidFill>
                  <a:srgbClr val="FFFFFF"/>
                </a:solidFill>
                <a:latin typeface="MiSans"/>
                <a:ea typeface="MiSans"/>
              </a:rPr>
              <a:t>训练方法</a:t>
            </a:r>
            <a:endParaRPr sz="165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4" name="dsl:toc-item3-desc"/>
          <p:cNvSpPr txBox="1"/>
          <p:nvPr/>
        </p:nvSpPr>
        <p:spPr>
          <a:xfrm>
            <a:off x="1428750" y="4143375"/>
            <a:ext cx="4762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A0A0A0"/>
                </a:solidFill>
                <a:latin typeface="MiSans"/>
                <a:ea typeface="MiSans"/>
              </a:rPr>
              <a:t>从基线到V6的优化策略迭代</a:t>
            </a:r>
            <a:endParaRPr sz="105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cxnSp>
        <p:nvCxnSpPr>
          <p:cNvPr id="15" name="dsl:toc-item3-line"/>
          <p:cNvCxnSpPr/>
          <p:nvPr/>
        </p:nvCxnSpPr>
        <p:spPr>
          <a:xfrm>
            <a:off x="762000" y="4572000"/>
            <a:ext cx="10477500" cy="0"/>
          </a:xfrm>
          <a:prstGeom prst="straightConnector1">
            <a:avLst/>
          </a:prstGeom>
          <a:ln w="12700">
            <a:solidFill>
              <a:srgbClr val="00D2FF">
                <a:alpha val="12549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dsl:toc-item4-num"/>
          <p:cNvSpPr txBox="1"/>
          <p:nvPr/>
        </p:nvSpPr>
        <p:spPr>
          <a:xfrm>
            <a:off x="762000" y="4953000"/>
            <a:ext cx="571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0D2FF"/>
                </a:solidFill>
                <a:latin typeface="MiSans"/>
                <a:ea typeface="MiSans"/>
              </a:rPr>
              <a:t>04</a:t>
            </a:r>
            <a:endParaRPr sz="2700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17" name="dsl:toc-item4-title"/>
          <p:cNvSpPr txBox="1"/>
          <p:nvPr/>
        </p:nvSpPr>
        <p:spPr>
          <a:xfrm>
            <a:off x="1428750" y="4953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b="1" noProof="1">
                <a:solidFill>
                  <a:srgbClr val="FFFFFF"/>
                </a:solidFill>
                <a:latin typeface="MiSans"/>
                <a:ea typeface="MiSans"/>
              </a:rPr>
              <a:t>实验结果</a:t>
            </a:r>
            <a:endParaRPr sz="165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8" name="dsl:toc-item4-desc"/>
          <p:cNvSpPr txBox="1"/>
          <p:nvPr/>
        </p:nvSpPr>
        <p:spPr>
          <a:xfrm>
            <a:off x="1428750" y="5286375"/>
            <a:ext cx="4762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A0A0A0"/>
                </a:solidFill>
                <a:latin typeface="MiSans"/>
                <a:ea typeface="MiSans"/>
              </a:rPr>
              <a:t>模型准确率、类别分析</a:t>
            </a:r>
            <a:endParaRPr sz="105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cxnSp>
        <p:nvCxnSpPr>
          <p:cNvPr id="19" name="dsl:toc-item4-line"/>
          <p:cNvCxnSpPr/>
          <p:nvPr/>
        </p:nvCxnSpPr>
        <p:spPr>
          <a:xfrm>
            <a:off x="762000" y="5715000"/>
            <a:ext cx="10477500" cy="0"/>
          </a:xfrm>
          <a:prstGeom prst="straightConnector1">
            <a:avLst/>
          </a:prstGeom>
          <a:ln w="12700">
            <a:solidFill>
              <a:srgbClr val="00D2FF">
                <a:alpha val="12549"/>
              </a:srgb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dsl:toc-item5-num"/>
          <p:cNvSpPr txBox="1"/>
          <p:nvPr/>
        </p:nvSpPr>
        <p:spPr>
          <a:xfrm>
            <a:off x="762000" y="6096000"/>
            <a:ext cx="5715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700" noProof="1">
                <a:solidFill>
                  <a:srgbClr val="00D2FF"/>
                </a:solidFill>
                <a:latin typeface="MiSans"/>
                <a:ea typeface="MiSans"/>
              </a:rPr>
              <a:t>05</a:t>
            </a:r>
            <a:endParaRPr sz="2700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21" name="dsl:toc-item5-title"/>
          <p:cNvSpPr txBox="1"/>
          <p:nvPr/>
        </p:nvSpPr>
        <p:spPr>
          <a:xfrm>
            <a:off x="1428750" y="60960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650" b="1" noProof="1">
                <a:solidFill>
                  <a:srgbClr val="FFFFFF"/>
                </a:solidFill>
                <a:latin typeface="MiSans"/>
                <a:ea typeface="MiSans"/>
              </a:rPr>
              <a:t>Demo演示与总结</a:t>
            </a:r>
            <a:endParaRPr sz="165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22" name="dsl:toc-item5-desc"/>
          <p:cNvSpPr txBox="1"/>
          <p:nvPr/>
        </p:nvSpPr>
        <p:spPr>
          <a:xfrm>
            <a:off x="1428750" y="6429375"/>
            <a:ext cx="4762500" cy="238125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050" noProof="1">
                <a:solidFill>
                  <a:srgbClr val="A0A0A0"/>
                </a:solidFill>
                <a:latin typeface="MiSans"/>
                <a:ea typeface="MiSans"/>
              </a:rPr>
              <a:t>BCI打字交互系统与项目总结</a:t>
            </a:r>
            <a:endParaRPr sz="105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9792970" y="277685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50000">
              <a:srgbClr val="004D80"/>
            </a:gs>
            <a:gs pos="100000">
              <a:srgbClr val="001A3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ch1-num"/>
          <p:cNvSpPr txBox="1"/>
          <p:nvPr/>
        </p:nvSpPr>
        <p:spPr>
          <a:xfrm>
            <a:off x="571500" y="1905000"/>
            <a:ext cx="1905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6000" noProof="1">
                <a:solidFill>
                  <a:srgbClr val="00D2FF">
                    <a:alpha val="12549"/>
                  </a:srgbClr>
                </a:solidFill>
                <a:latin typeface="MiSans"/>
                <a:ea typeface="MiSans"/>
              </a:rPr>
              <a:t>01</a:t>
            </a:r>
            <a:endParaRPr sz="6000" noProof="1">
              <a:solidFill>
                <a:srgbClr val="00D2FF">
                  <a:alpha val="12549"/>
                </a:srgbClr>
              </a:solidFill>
              <a:latin typeface="MiSans"/>
              <a:ea typeface="MiSans"/>
            </a:endParaRPr>
          </a:p>
        </p:txBody>
      </p:sp>
      <p:sp>
        <p:nvSpPr>
          <p:cNvPr id="3" name="dsl:ch1-title|s=$title"/>
          <p:cNvSpPr txBox="1"/>
          <p:nvPr/>
        </p:nvSpPr>
        <p:spPr>
          <a:xfrm>
            <a:off x="571500" y="304800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FFFFFF"/>
                </a:solidFill>
                <a:latin typeface="MiSans"/>
                <a:ea typeface="MiSans"/>
              </a:rPr>
              <a:t>研究背景与数据集</a:t>
            </a:r>
            <a:endParaRPr sz="30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4" name="dsl:ch1-subtitle|s=$subtitle"/>
          <p:cNvSpPr txBox="1"/>
          <p:nvPr/>
        </p:nvSpPr>
        <p:spPr>
          <a:xfrm>
            <a:off x="571500" y="3810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A0A0A0"/>
                </a:solidFill>
                <a:latin typeface="MiSans"/>
                <a:ea typeface="MiSans"/>
              </a:rPr>
              <a:t>BETA公开数据集介绍与SSVEP脑机接口任务概述</a:t>
            </a:r>
            <a:endParaRPr sz="15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cxnSp>
        <p:nvCxnSpPr>
          <p:cNvPr id="5" name="dsl:ch1-line"/>
          <p:cNvCxnSpPr/>
          <p:nvPr/>
        </p:nvCxnSpPr>
        <p:spPr>
          <a:xfrm>
            <a:off x="571500" y="4381500"/>
            <a:ext cx="2857500" cy="0"/>
          </a:xfrm>
          <a:prstGeom prst="straightConnector1">
            <a:avLst/>
          </a:prstGeom>
          <a:ln w="38100">
            <a:solidFill>
              <a:srgbClr val="00D2F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sl:ch1-deco-circle"/>
          <p:cNvSpPr/>
          <p:nvPr/>
        </p:nvSpPr>
        <p:spPr>
          <a:xfrm>
            <a:off x="9525000" y="3810000"/>
            <a:ext cx="1905000" cy="1905000"/>
          </a:xfrm>
          <a:prstGeom prst="ellipse">
            <a:avLst/>
          </a:prstGeom>
          <a:solidFill>
            <a:srgbClr val="00D2FF">
              <a:alpha val="62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100000">
              <a:srgbClr val="001A3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-60960"/>
            <a:ext cx="12192000" cy="711200"/>
          </a:xfrm>
          <a:prstGeom prst="rect">
            <a:avLst/>
          </a:prstGeom>
          <a:solidFill>
            <a:srgbClr val="00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itle"/>
          <p:cNvSpPr txBox="1"/>
          <p:nvPr/>
        </p:nvSpPr>
        <p:spPr>
          <a:xfrm>
            <a:off x="751205" y="56515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noProof="1">
                <a:solidFill>
                  <a:srgbClr val="A0A0A0"/>
                </a:solidFill>
                <a:latin typeface="MiSans"/>
                <a:ea typeface="MiSans"/>
              </a:rPr>
              <a:t>01 研究背景与数据集</a:t>
            </a:r>
            <a:endParaRPr sz="24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sp>
        <p:nvSpPr>
          <p:cNvPr id="4" name="dsl:page-title|s=$pageTitle"/>
          <p:cNvSpPr txBox="1"/>
          <p:nvPr/>
        </p:nvSpPr>
        <p:spPr>
          <a:xfrm>
            <a:off x="495300" y="1047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800" b="1" noProof="1">
                <a:solidFill>
                  <a:srgbClr val="FFFFFF"/>
                </a:solidFill>
                <a:latin typeface="MiSans"/>
                <a:ea typeface="MiSans"/>
              </a:rPr>
              <a:t>BETA Dataset：40分类SSVEP基准数据集</a:t>
            </a:r>
            <a:endParaRPr sz="28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5" name="dsl:card1-bg"/>
          <p:cNvSpPr/>
          <p:nvPr>
            <p:custDataLst>
              <p:tags r:id="rId1"/>
            </p:custDataLst>
          </p:nvPr>
        </p:nvSpPr>
        <p:spPr>
          <a:xfrm>
            <a:off x="358140" y="2501265"/>
            <a:ext cx="3502025" cy="2341245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card1-icon|i=fas:users" descr="tmpyx2vs56g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552713" y="2695838"/>
            <a:ext cx="311316" cy="311316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card1-title"/>
          <p:cNvSpPr txBox="1"/>
          <p:nvPr>
            <p:custDataLst>
              <p:tags r:id="rId4"/>
            </p:custDataLst>
          </p:nvPr>
        </p:nvSpPr>
        <p:spPr>
          <a:xfrm>
            <a:off x="941858" y="2676380"/>
            <a:ext cx="2724019" cy="35023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000" b="1" noProof="1">
                <a:solidFill>
                  <a:srgbClr val="FFFFFF"/>
                </a:solidFill>
                <a:latin typeface="MiSans"/>
                <a:ea typeface="MiSans"/>
              </a:rPr>
              <a:t>被试与通道</a:t>
            </a:r>
            <a:endParaRPr sz="20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8" name="dsl:card1-content|s=$body"/>
          <p:cNvSpPr txBox="1"/>
          <p:nvPr>
            <p:custDataLst>
              <p:tags r:id="rId5"/>
            </p:custDataLst>
          </p:nvPr>
        </p:nvSpPr>
        <p:spPr>
          <a:xfrm>
            <a:off x="552713" y="3133626"/>
            <a:ext cx="3113164" cy="116743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35名被试（S1-S35）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64通道EEG采集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250Hz采样率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40类刺激频率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9" name="dsl:card2-bg"/>
          <p:cNvSpPr/>
          <p:nvPr>
            <p:custDataLst>
              <p:tags r:id="rId6"/>
            </p:custDataLst>
          </p:nvPr>
        </p:nvSpPr>
        <p:spPr>
          <a:xfrm>
            <a:off x="4055110" y="2501265"/>
            <a:ext cx="3502025" cy="2341245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card2-icon|i=fas:wave-square" descr="tmpyx2vs56g.png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249595" y="2695838"/>
            <a:ext cx="311316" cy="311316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card2-title"/>
          <p:cNvSpPr txBox="1"/>
          <p:nvPr>
            <p:custDataLst>
              <p:tags r:id="rId8"/>
            </p:custDataLst>
          </p:nvPr>
        </p:nvSpPr>
        <p:spPr>
          <a:xfrm>
            <a:off x="4638741" y="2676380"/>
            <a:ext cx="2724019" cy="35023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000" b="1" noProof="1">
                <a:solidFill>
                  <a:srgbClr val="FFFFFF"/>
                </a:solidFill>
                <a:latin typeface="MiSans"/>
                <a:ea typeface="MiSans"/>
              </a:rPr>
              <a:t>刺激频率</a:t>
            </a:r>
            <a:endParaRPr sz="20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2" name="dsl:card2-content|s=$body"/>
          <p:cNvSpPr txBox="1"/>
          <p:nvPr>
            <p:custDataLst>
              <p:tags r:id="rId9"/>
            </p:custDataLst>
          </p:nvPr>
        </p:nvSpPr>
        <p:spPr>
          <a:xfrm>
            <a:off x="4249595" y="3133626"/>
            <a:ext cx="3113164" cy="116743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8.0Hz ~ 15.8Hz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0.25Hz步进间隔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对应字符：A-Z, 0-9, 标点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4数据块 × 5trial/类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3" name="dsl:card3-bg"/>
          <p:cNvSpPr/>
          <p:nvPr>
            <p:custDataLst>
              <p:tags r:id="rId10"/>
            </p:custDataLst>
          </p:nvPr>
        </p:nvSpPr>
        <p:spPr>
          <a:xfrm>
            <a:off x="7752080" y="2501265"/>
            <a:ext cx="3891280" cy="233553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dsl:card3-icon|i=fas:chart-line" descr="tmpyx2vs56g.pn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7946478" y="2695838"/>
            <a:ext cx="311316" cy="311316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card3-title"/>
          <p:cNvSpPr txBox="1"/>
          <p:nvPr>
            <p:custDataLst>
              <p:tags r:id="rId12"/>
            </p:custDataLst>
          </p:nvPr>
        </p:nvSpPr>
        <p:spPr>
          <a:xfrm>
            <a:off x="8335623" y="2676380"/>
            <a:ext cx="3113164" cy="350231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000" b="1" noProof="1">
                <a:solidFill>
                  <a:srgbClr val="FFFFFF"/>
                </a:solidFill>
                <a:latin typeface="MiSans"/>
                <a:ea typeface="MiSans"/>
              </a:rPr>
              <a:t>数据划分</a:t>
            </a:r>
            <a:endParaRPr sz="20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6" name="dsl:card3-content|s=$body"/>
          <p:cNvSpPr txBox="1"/>
          <p:nvPr>
            <p:custDataLst>
              <p:tags r:id="rId13"/>
            </p:custDataLst>
          </p:nvPr>
        </p:nvSpPr>
        <p:spPr>
          <a:xfrm>
            <a:off x="7946478" y="3133626"/>
            <a:ext cx="3502310" cy="1167437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S1-S34：训练集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S35：固定测试集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1s时间窗口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• 共约6800个训练样本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" name="dsl:detail-bg"/>
          <p:cNvSpPr/>
          <p:nvPr/>
        </p:nvSpPr>
        <p:spPr>
          <a:xfrm>
            <a:off x="-1746885" y="-200025"/>
            <a:ext cx="14738350" cy="725805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sl:detail-content|s=$body"/>
          <p:cNvSpPr txBox="1"/>
          <p:nvPr/>
        </p:nvSpPr>
        <p:spPr>
          <a:xfrm>
            <a:off x="686435" y="1046480"/>
            <a:ext cx="10668000" cy="2571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1. 时域截断：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原始EEG (64, 1250) → 选取1s窗口 (64, 250)，对应250个采样点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2. 通道选择：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降采样至11个关键通道（O1, O2, Oz, P3, P4, Pz, PO3, PO4, PO7, PO8, POz）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3. </a:t>
            </a:r>
            <a:r>
              <a:rPr b="1" noProof="1">
                <a:solidFill>
                  <a:srgbClr val="FF0000"/>
                </a:solidFill>
                <a:latin typeface="MiSans"/>
                <a:ea typeface="MiSans"/>
              </a:rPr>
              <a:t>FFT频域变换</a:t>
            </a: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FFT点数nfft=1000，分辨率0.25Hz，提取8-45Hz频段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4. </a:t>
            </a:r>
            <a:r>
              <a:rPr b="1" noProof="1">
                <a:solidFill>
                  <a:srgbClr val="FF0000"/>
                </a:solidFill>
                <a:latin typeface="MiSans"/>
                <a:ea typeface="MiSans"/>
              </a:rPr>
              <a:t>Filter-Bank分解</a:t>
            </a: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3个子带：[8,16]Hz, [16,30]Hz, [24,45]Hz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5. 实部虚部拼接：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real+imag → (11, 298) 输入特征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endParaRPr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8" name="dsl:detail-title"/>
          <p:cNvSpPr txBox="1"/>
          <p:nvPr/>
        </p:nvSpPr>
        <p:spPr>
          <a:xfrm>
            <a:off x="854075" y="34671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200" b="1" noProof="1">
                <a:solidFill>
                  <a:srgbClr val="00D2FF"/>
                </a:solidFill>
                <a:latin typeface="MiSans"/>
                <a:ea typeface="MiSans"/>
              </a:rPr>
              <a:t>预处理流程</a:t>
            </a:r>
            <a:endParaRPr sz="3200" b="1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50000">
              <a:srgbClr val="004D80"/>
            </a:gs>
            <a:gs pos="100000">
              <a:srgbClr val="001A3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ch2-num"/>
          <p:cNvSpPr txBox="1"/>
          <p:nvPr/>
        </p:nvSpPr>
        <p:spPr>
          <a:xfrm>
            <a:off x="571500" y="1905000"/>
            <a:ext cx="1905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6000" noProof="1">
                <a:solidFill>
                  <a:srgbClr val="00D2FF">
                    <a:alpha val="12549"/>
                  </a:srgbClr>
                </a:solidFill>
                <a:latin typeface="MiSans"/>
                <a:ea typeface="MiSans"/>
              </a:rPr>
              <a:t>02</a:t>
            </a:r>
            <a:endParaRPr sz="6000" noProof="1">
              <a:solidFill>
                <a:srgbClr val="00D2FF">
                  <a:alpha val="12549"/>
                </a:srgbClr>
              </a:solidFill>
              <a:latin typeface="MiSans"/>
              <a:ea typeface="MiSans"/>
            </a:endParaRPr>
          </a:p>
        </p:txBody>
      </p:sp>
      <p:sp>
        <p:nvSpPr>
          <p:cNvPr id="3" name="dsl:ch2-title|s=$title"/>
          <p:cNvSpPr txBox="1"/>
          <p:nvPr/>
        </p:nvSpPr>
        <p:spPr>
          <a:xfrm>
            <a:off x="571500" y="304800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FFFFFF"/>
                </a:solidFill>
                <a:latin typeface="MiSans"/>
                <a:ea typeface="MiSans"/>
              </a:rPr>
              <a:t>模型架构</a:t>
            </a:r>
            <a:endParaRPr sz="30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4" name="dsl:ch2-subtitle|s=$subtitle"/>
          <p:cNvSpPr txBox="1"/>
          <p:nvPr/>
        </p:nvSpPr>
        <p:spPr>
          <a:xfrm>
            <a:off x="571500" y="3810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A0A0A0"/>
                </a:solidFill>
                <a:latin typeface="MiSans"/>
                <a:ea typeface="MiSans"/>
              </a:rPr>
              <a:t>FB-SSVEPformer V6：融合SNN的频域特征提取网络</a:t>
            </a:r>
            <a:endParaRPr sz="15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cxnSp>
        <p:nvCxnSpPr>
          <p:cNvPr id="5" name="dsl:ch2-line"/>
          <p:cNvCxnSpPr/>
          <p:nvPr/>
        </p:nvCxnSpPr>
        <p:spPr>
          <a:xfrm>
            <a:off x="571500" y="4381500"/>
            <a:ext cx="2857500" cy="0"/>
          </a:xfrm>
          <a:prstGeom prst="straightConnector1">
            <a:avLst/>
          </a:prstGeom>
          <a:ln w="38100">
            <a:solidFill>
              <a:srgbClr val="00D2F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sl:ch2-deco-circle"/>
          <p:cNvSpPr/>
          <p:nvPr/>
        </p:nvSpPr>
        <p:spPr>
          <a:xfrm>
            <a:off x="9525000" y="3810000"/>
            <a:ext cx="1905000" cy="1905000"/>
          </a:xfrm>
          <a:prstGeom prst="ellipse">
            <a:avLst/>
          </a:prstGeom>
          <a:solidFill>
            <a:srgbClr val="00D2FF">
              <a:alpha val="62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100000">
              <a:srgbClr val="001A3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-13335"/>
            <a:ext cx="12192000" cy="687070"/>
          </a:xfrm>
          <a:prstGeom prst="rect">
            <a:avLst/>
          </a:prstGeom>
          <a:solidFill>
            <a:srgbClr val="00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itle"/>
          <p:cNvSpPr txBox="1"/>
          <p:nvPr/>
        </p:nvSpPr>
        <p:spPr>
          <a:xfrm>
            <a:off x="525780" y="92075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200" noProof="1">
                <a:solidFill>
                  <a:srgbClr val="A0A0A0"/>
                </a:solidFill>
                <a:latin typeface="MiSans"/>
                <a:ea typeface="MiSans"/>
              </a:rPr>
              <a:t>02 模型架构</a:t>
            </a:r>
            <a:endParaRPr sz="32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sp>
        <p:nvSpPr>
          <p:cNvPr id="4" name="dsl:page-title|s=$pageTitle"/>
          <p:cNvSpPr txBox="1"/>
          <p:nvPr/>
        </p:nvSpPr>
        <p:spPr>
          <a:xfrm>
            <a:off x="571500" y="666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FFFFFF"/>
                </a:solidFill>
                <a:latin typeface="MiSans"/>
                <a:ea typeface="MiSans"/>
              </a:rPr>
              <a:t>FB-SpikeSSVEPformer V6 网络架构</a:t>
            </a:r>
            <a:endParaRPr sz="21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pic>
        <p:nvPicPr>
          <p:cNvPr id="5" name="dsl:arch-image" descr="D:\学习资料\BCI\40分类\ppt_work\images\model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505" y="1062990"/>
            <a:ext cx="10115550" cy="3115310"/>
          </a:xfrm>
          <a:prstGeom prst="roundRect">
            <a:avLst>
              <a:gd name="adj" fmla="val 5000"/>
            </a:avLst>
          </a:prstGeom>
          <a:ln>
            <a:noFill/>
          </a:ln>
          <a:effectLst/>
        </p:spPr>
      </p:pic>
      <p:sp>
        <p:nvSpPr>
          <p:cNvPr id="6" name="dsl:info-card-bg"/>
          <p:cNvSpPr/>
          <p:nvPr/>
        </p:nvSpPr>
        <p:spPr>
          <a:xfrm>
            <a:off x="4544060" y="3798570"/>
            <a:ext cx="4095750" cy="30480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info-title"/>
          <p:cNvSpPr txBox="1"/>
          <p:nvPr/>
        </p:nvSpPr>
        <p:spPr>
          <a:xfrm>
            <a:off x="1009650" y="4778375"/>
            <a:ext cx="3714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b="1" noProof="1">
                <a:solidFill>
                  <a:srgbClr val="00D2FF"/>
                </a:solidFill>
                <a:latin typeface="MiSans"/>
                <a:ea typeface="MiSans"/>
              </a:rPr>
              <a:t>核心模块</a:t>
            </a:r>
            <a:endParaRPr sz="2400" b="1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8" name="dsl:info-content|s=$body"/>
          <p:cNvSpPr txBox="1"/>
          <p:nvPr/>
        </p:nvSpPr>
        <p:spPr>
          <a:xfrm>
            <a:off x="4925060" y="4032885"/>
            <a:ext cx="3714750" cy="2381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00D2FF"/>
                </a:solidFill>
                <a:latin typeface="MiSans"/>
                <a:ea typeface="MiSans"/>
              </a:rPr>
              <a:t>FreqFilter-Bank</a:t>
            </a:r>
            <a:endParaRPr sz="1200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  3个子带频域分解</a:t>
            </a:r>
            <a:endParaRPr sz="12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00D2FF"/>
                </a:solidFill>
                <a:latin typeface="MiSans"/>
                <a:ea typeface="MiSans"/>
              </a:rPr>
              <a:t>Deep PLIFEncoder ×4</a:t>
            </a:r>
            <a:endParaRPr sz="1200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  4层参数化LIF编码</a:t>
            </a:r>
            <a:endParaRPr sz="12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00D2FF"/>
                </a:solidFill>
                <a:latin typeface="MiSans"/>
                <a:ea typeface="MiSans"/>
              </a:rPr>
              <a:t>PLIF Fusion</a:t>
            </a:r>
            <a:endParaRPr sz="1200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  可学习τ融合</a:t>
            </a:r>
            <a:endParaRPr sz="12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00D2FF"/>
                </a:solidFill>
                <a:latin typeface="MiSans"/>
                <a:ea typeface="MiSans"/>
              </a:rPr>
              <a:t>MlpHead-Temporal</a:t>
            </a:r>
            <a:endParaRPr sz="1200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  时域编码分类头</a:t>
            </a:r>
            <a:endParaRPr sz="1200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dsl:spec-card-bg"/>
          <p:cNvSpPr/>
          <p:nvPr/>
        </p:nvSpPr>
        <p:spPr>
          <a:xfrm>
            <a:off x="-593725" y="-159385"/>
            <a:ext cx="12944475" cy="7329170"/>
          </a:xfrm>
          <a:prstGeom prst="roundRect">
            <a:avLst>
              <a:gd name="adj" fmla="val 5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spec-content|s=$body"/>
          <p:cNvSpPr txBox="1"/>
          <p:nvPr/>
        </p:nvSpPr>
        <p:spPr>
          <a:xfrm>
            <a:off x="358140" y="998855"/>
            <a:ext cx="10668000" cy="21717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• </a:t>
            </a: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输入维度：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(Batch, 11 channels, 250 samples) — 1s EEG信号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• </a:t>
            </a: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频域特征：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FFT后3子带，实部+虚部拼接 → (Batch, 11, 298)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• </a:t>
            </a: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编码器：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3×独立子网络，每个含 ChComb + 4层 PLIFEncoder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• </a:t>
            </a: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输出维度：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融合特征 (Batch, 6556) → 40类分类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• </a:t>
            </a:r>
            <a:r>
              <a:rPr b="1" noProof="1">
                <a:solidFill>
                  <a:srgbClr val="FFFFFF"/>
                </a:solidFill>
                <a:latin typeface="MiSans"/>
                <a:ea typeface="MiSans"/>
              </a:rPr>
              <a:t>参数量：</a:t>
            </a:r>
            <a:r>
              <a:rPr noProof="1">
                <a:solidFill>
                  <a:srgbClr val="FFFFFF"/>
                </a:solidFill>
                <a:latin typeface="MiSans"/>
                <a:ea typeface="MiSans"/>
              </a:rPr>
              <a:t>1,883,527（V6） | 1,741,513（V5）</a:t>
            </a:r>
            <a:endParaRPr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0" name="dsl:spec-title"/>
          <p:cNvSpPr txBox="1"/>
          <p:nvPr/>
        </p:nvSpPr>
        <p:spPr>
          <a:xfrm>
            <a:off x="243840" y="313055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800" b="1" noProof="1">
                <a:solidFill>
                  <a:srgbClr val="00D2FF"/>
                </a:solidFill>
                <a:latin typeface="MiSans"/>
                <a:ea typeface="MiSans"/>
              </a:rPr>
              <a:t>模型规格</a:t>
            </a:r>
            <a:endParaRPr sz="2800" b="1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44445" y="4560570"/>
            <a:ext cx="6096000" cy="9531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800">
                <a:solidFill>
                  <a:srgbClr val="FF0000"/>
                </a:solidFill>
              </a:rPr>
              <a:t>Train (S1-S34):          (9996, 11, 250)</a:t>
            </a:r>
            <a:endParaRPr lang="en-US" altLang="zh-CN" sz="2800">
              <a:solidFill>
                <a:srgbClr val="FF0000"/>
              </a:solidFill>
            </a:endParaRPr>
          </a:p>
          <a:p>
            <a:r>
              <a:rPr lang="en-US" altLang="zh-CN" sz="2800">
                <a:solidFill>
                  <a:srgbClr val="FF0000"/>
                </a:solidFill>
              </a:rPr>
              <a:t>Test  (S35):                 (240, 11, 250)</a:t>
            </a:r>
            <a:endParaRPr lang="en-US" altLang="zh-CN" sz="2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100000">
              <a:srgbClr val="001A3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0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itle"/>
          <p:cNvSpPr txBox="1"/>
          <p:nvPr/>
        </p:nvSpPr>
        <p:spPr>
          <a:xfrm>
            <a:off x="571500" y="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A0A0A0"/>
                </a:solidFill>
                <a:latin typeface="MiSans"/>
                <a:ea typeface="MiSans"/>
              </a:rPr>
              <a:t>02 模型架构</a:t>
            </a:r>
            <a:endParaRPr sz="12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sp>
        <p:nvSpPr>
          <p:cNvPr id="4" name="dsl:page-title|s=$pageTitle"/>
          <p:cNvSpPr txBox="1"/>
          <p:nvPr/>
        </p:nvSpPr>
        <p:spPr>
          <a:xfrm>
            <a:off x="571500" y="666750"/>
            <a:ext cx="8572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FFFFFF"/>
                </a:solidFill>
                <a:latin typeface="MiSans"/>
                <a:ea typeface="MiSans"/>
              </a:rPr>
              <a:t>SNN核心模块：PLIF + LIF + Temporal Coding</a:t>
            </a:r>
            <a:endParaRPr sz="21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5" name="dsl:plif-card-bg"/>
          <p:cNvSpPr/>
          <p:nvPr/>
        </p:nvSpPr>
        <p:spPr>
          <a:xfrm>
            <a:off x="571500" y="1190625"/>
            <a:ext cx="3524250" cy="22860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dsl:plif-icon|i=fas:bolt" descr="tmpj8tigd5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333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7" name="dsl:plif-title"/>
          <p:cNvSpPr txBox="1"/>
          <p:nvPr/>
        </p:nvSpPr>
        <p:spPr>
          <a:xfrm>
            <a:off x="1095375" y="1314450"/>
            <a:ext cx="2809875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00D2FF"/>
                </a:solidFill>
                <a:latin typeface="MiSans"/>
                <a:ea typeface="MiSans"/>
              </a:rPr>
              <a:t>PLIF (Parametric LIF)</a:t>
            </a:r>
            <a:endParaRPr sz="1350" b="1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8" name="dsl:plif-content|s=$body"/>
          <p:cNvSpPr txBox="1"/>
          <p:nvPr/>
        </p:nvSpPr>
        <p:spPr>
          <a:xfrm>
            <a:off x="762000" y="1714500"/>
            <a:ext cx="314325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每个神经元独立学习</a:t>
            </a:r>
            <a:r>
              <a:rPr sz="1125" b="1" noProof="1">
                <a:solidFill>
                  <a:srgbClr val="00D2FF"/>
                </a:solidFill>
                <a:latin typeface="MiSans"/>
                <a:ea typeface="MiSans"/>
              </a:rPr>
              <a:t>时间常数τ</a:t>
            </a:r>
            <a:endParaRPr sz="1125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init_tau=2.0，自适应调整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不同子带拥有不同的时域动态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替代固定LIF，提升表达能力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4层堆叠 + 残差连接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9" name="dsl:lif-card-bg"/>
          <p:cNvSpPr/>
          <p:nvPr/>
        </p:nvSpPr>
        <p:spPr>
          <a:xfrm>
            <a:off x="4286250" y="1190625"/>
            <a:ext cx="3524250" cy="22860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dsl:lif-icon|i=fas:filter" descr="tmpj8tigd5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6750" y="1333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1" name="dsl:lif-title"/>
          <p:cNvSpPr txBox="1"/>
          <p:nvPr/>
        </p:nvSpPr>
        <p:spPr>
          <a:xfrm>
            <a:off x="4810125" y="1314450"/>
            <a:ext cx="2809875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00D2FF"/>
                </a:solidFill>
                <a:latin typeface="MiSans"/>
                <a:ea typeface="MiSans"/>
              </a:rPr>
              <a:t>LIF Bottleneck</a:t>
            </a:r>
            <a:endParaRPr sz="1350" b="1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12" name="dsl:lif-content|s=$body"/>
          <p:cNvSpPr txBox="1"/>
          <p:nvPr/>
        </p:nvSpPr>
        <p:spPr>
          <a:xfrm>
            <a:off x="4476750" y="1714500"/>
            <a:ext cx="314325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在分类头中插入</a:t>
            </a:r>
            <a:r>
              <a:rPr sz="1125" b="1" noProof="1">
                <a:solidFill>
                  <a:srgbClr val="00D2FF"/>
                </a:solidFill>
                <a:latin typeface="MiSans"/>
                <a:ea typeface="MiSans"/>
              </a:rPr>
              <a:t>LIF层</a:t>
            </a:r>
            <a:endParaRPr sz="1125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6556 → 240 → LIF → 40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形成"脉冲瓶颈"结构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引入阈值非线性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T=12步rate coding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3" name="dsl:temporal-card-bg"/>
          <p:cNvSpPr/>
          <p:nvPr/>
        </p:nvSpPr>
        <p:spPr>
          <a:xfrm>
            <a:off x="8001000" y="1190625"/>
            <a:ext cx="3619500" cy="22860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dsl:temporal-icon|i=fas:clock" descr="tmpj8tigd5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0" y="1333500"/>
            <a:ext cx="266700" cy="266700"/>
          </a:xfrm>
          <a:prstGeom prst="rect">
            <a:avLst/>
          </a:prstGeom>
          <a:ln>
            <a:noFill/>
          </a:ln>
          <a:effectLst/>
        </p:spPr>
      </p:pic>
      <p:sp>
        <p:nvSpPr>
          <p:cNvPr id="15" name="dsl:temporal-title"/>
          <p:cNvSpPr txBox="1"/>
          <p:nvPr/>
        </p:nvSpPr>
        <p:spPr>
          <a:xfrm>
            <a:off x="8524875" y="1314450"/>
            <a:ext cx="2905125" cy="3048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00D2FF"/>
                </a:solidFill>
                <a:latin typeface="MiSans"/>
                <a:ea typeface="MiSans"/>
              </a:rPr>
              <a:t>Temporal Coding</a:t>
            </a:r>
            <a:endParaRPr sz="1350" b="1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16" name="dsl:temporal-content|s=$body"/>
          <p:cNvSpPr txBox="1"/>
          <p:nvPr/>
        </p:nvSpPr>
        <p:spPr>
          <a:xfrm>
            <a:off x="8191500" y="1714500"/>
            <a:ext cx="3238500" cy="1619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</a:t>
            </a:r>
            <a:r>
              <a:rPr sz="1125" b="1" noProof="1">
                <a:solidFill>
                  <a:srgbClr val="00D2FF"/>
                </a:solidFill>
                <a:latin typeface="MiSans"/>
                <a:ea typeface="MiSans"/>
              </a:rPr>
              <a:t>时间加权</a:t>
            </a: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替代简单均值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w_t = exp(-t/τ), τ=3.0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早期spike权重更高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关注spike timing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125" noProof="1">
                <a:solidFill>
                  <a:srgbClr val="FFFFFF"/>
                </a:solidFill>
                <a:latin typeface="MiSans"/>
                <a:ea typeface="MiSans"/>
              </a:rPr>
              <a:t>• 不仅关注spike数量</a:t>
            </a:r>
            <a:endParaRPr sz="1125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7" name="dsl:weights-chart-title"/>
          <p:cNvSpPr txBox="1"/>
          <p:nvPr/>
        </p:nvSpPr>
        <p:spPr>
          <a:xfrm>
            <a:off x="571500" y="3667125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FFFFFF"/>
                </a:solidFill>
                <a:latin typeface="MiSans"/>
                <a:ea typeface="MiSans"/>
              </a:rPr>
              <a:t>Temporal Weights 分布</a:t>
            </a:r>
            <a:endParaRPr sz="135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graphicFrame>
        <p:nvGraphicFramePr>
          <p:cNvPr id="18" name="dsl:weights-chart"/>
          <p:cNvGraphicFramePr>
            <a:graphicFrameLocks noGrp="1"/>
          </p:cNvGraphicFramePr>
          <p:nvPr/>
        </p:nvGraphicFramePr>
        <p:xfrm>
          <a:off x="571500" y="4000500"/>
          <a:ext cx="5715000" cy="2571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9" name="dsl:formula-bg"/>
          <p:cNvSpPr/>
          <p:nvPr/>
        </p:nvSpPr>
        <p:spPr>
          <a:xfrm>
            <a:off x="6572250" y="4000500"/>
            <a:ext cx="5048250" cy="257175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dsl:formula-title"/>
          <p:cNvSpPr txBox="1"/>
          <p:nvPr/>
        </p:nvSpPr>
        <p:spPr>
          <a:xfrm>
            <a:off x="6762750" y="4143375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00D2FF"/>
                </a:solidFill>
                <a:latin typeface="MiSans"/>
                <a:ea typeface="MiSans"/>
              </a:rPr>
              <a:t>Temporal Coding</a:t>
            </a:r>
            <a:endParaRPr sz="1350" b="1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21" name="dsl:formula-content|s=$body"/>
          <p:cNvSpPr txBox="1"/>
          <p:nvPr/>
        </p:nvSpPr>
        <p:spPr>
          <a:xfrm>
            <a:off x="6762750" y="4524375"/>
            <a:ext cx="4667250" cy="1905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2000" noProof="1">
                <a:solidFill>
                  <a:srgbClr val="FFFFFF"/>
                </a:solidFill>
                <a:latin typeface="MiSans"/>
                <a:ea typeface="MiSans"/>
              </a:rPr>
              <a:t>T = 12步时间编码</a:t>
            </a:r>
            <a:endParaRPr sz="20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2000" noProof="1">
                <a:solidFill>
                  <a:srgbClr val="FFFFFF"/>
                </a:solidFill>
                <a:latin typeface="MiSans"/>
                <a:ea typeface="MiSans"/>
              </a:rPr>
              <a:t>相比Rate Coding：关注</a:t>
            </a:r>
            <a:r>
              <a:rPr sz="2000" b="1" noProof="1">
                <a:solidFill>
                  <a:srgbClr val="00D2FF"/>
                </a:solidFill>
                <a:latin typeface="MiSans"/>
                <a:ea typeface="MiSans"/>
              </a:rPr>
              <a:t>spike timing</a:t>
            </a:r>
            <a:endParaRPr sz="2000" b="1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50000">
              <a:srgbClr val="004D80"/>
            </a:gs>
            <a:gs pos="100000">
              <a:srgbClr val="001A3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ch3-num"/>
          <p:cNvSpPr txBox="1"/>
          <p:nvPr/>
        </p:nvSpPr>
        <p:spPr>
          <a:xfrm>
            <a:off x="571500" y="1905000"/>
            <a:ext cx="1905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6000" noProof="1">
                <a:solidFill>
                  <a:srgbClr val="00D2FF">
                    <a:alpha val="12549"/>
                  </a:srgbClr>
                </a:solidFill>
                <a:latin typeface="MiSans"/>
                <a:ea typeface="MiSans"/>
              </a:rPr>
              <a:t>03</a:t>
            </a:r>
            <a:endParaRPr sz="6000" noProof="1">
              <a:solidFill>
                <a:srgbClr val="00D2FF">
                  <a:alpha val="12549"/>
                </a:srgbClr>
              </a:solidFill>
              <a:latin typeface="MiSans"/>
              <a:ea typeface="MiSans"/>
            </a:endParaRPr>
          </a:p>
        </p:txBody>
      </p:sp>
      <p:sp>
        <p:nvSpPr>
          <p:cNvPr id="3" name="dsl:ch3-title|s=$title"/>
          <p:cNvSpPr txBox="1"/>
          <p:nvPr/>
        </p:nvSpPr>
        <p:spPr>
          <a:xfrm>
            <a:off x="571500" y="304800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FFFFFF"/>
                </a:solidFill>
                <a:latin typeface="MiSans"/>
                <a:ea typeface="MiSans"/>
              </a:rPr>
              <a:t>训练方法</a:t>
            </a:r>
            <a:endParaRPr sz="30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4" name="dsl:ch3-subtitle|s=$subtitle"/>
          <p:cNvSpPr txBox="1"/>
          <p:nvPr/>
        </p:nvSpPr>
        <p:spPr>
          <a:xfrm>
            <a:off x="571500" y="3810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A0A0A0"/>
                </a:solidFill>
                <a:latin typeface="MiSans"/>
                <a:ea typeface="MiSans"/>
              </a:rPr>
              <a:t>从基线到V6的优化策略迭代</a:t>
            </a:r>
            <a:endParaRPr sz="15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cxnSp>
        <p:nvCxnSpPr>
          <p:cNvPr id="5" name="dsl:ch3-line"/>
          <p:cNvCxnSpPr/>
          <p:nvPr/>
        </p:nvCxnSpPr>
        <p:spPr>
          <a:xfrm>
            <a:off x="571500" y="4381500"/>
            <a:ext cx="2857500" cy="0"/>
          </a:xfrm>
          <a:prstGeom prst="straightConnector1">
            <a:avLst/>
          </a:prstGeom>
          <a:ln w="38100">
            <a:solidFill>
              <a:srgbClr val="00D2F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sl:ch3-deco-circle"/>
          <p:cNvSpPr/>
          <p:nvPr/>
        </p:nvSpPr>
        <p:spPr>
          <a:xfrm>
            <a:off x="9525000" y="3810000"/>
            <a:ext cx="1905000" cy="1905000"/>
          </a:xfrm>
          <a:prstGeom prst="ellipse">
            <a:avLst/>
          </a:prstGeom>
          <a:solidFill>
            <a:srgbClr val="00D2FF">
              <a:alpha val="62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itle"/>
          <p:cNvSpPr txBox="1"/>
          <p:nvPr/>
        </p:nvSpPr>
        <p:spPr>
          <a:xfrm>
            <a:off x="571500" y="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A0A0A0"/>
                </a:solidFill>
                <a:latin typeface="MiSans"/>
                <a:ea typeface="MiSans"/>
              </a:rPr>
              <a:t>03 训练方法</a:t>
            </a:r>
            <a:endParaRPr sz="12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sp>
        <p:nvSpPr>
          <p:cNvPr id="4" name="dsl:page-title|s=$pageTitle"/>
          <p:cNvSpPr txBox="1"/>
          <p:nvPr/>
        </p:nvSpPr>
        <p:spPr>
          <a:xfrm>
            <a:off x="571500" y="666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1F2937"/>
                </a:solidFill>
                <a:latin typeface="MiSans"/>
                <a:ea typeface="MiSans"/>
              </a:rPr>
              <a:t>训练演进：V2 → V6</a:t>
            </a:r>
            <a:endParaRPr sz="2100" b="1" noProof="1">
              <a:solidFill>
                <a:srgbClr val="1F2937"/>
              </a:solidFill>
              <a:latin typeface="MiSans"/>
              <a:ea typeface="MiSans"/>
            </a:endParaRPr>
          </a:p>
        </p:txBody>
      </p:sp>
      <p:graphicFrame>
        <p:nvGraphicFramePr>
          <p:cNvPr id="5" name="dsl:version-table"/>
          <p:cNvGraphicFramePr>
            <a:graphicFrameLocks noGrp="1"/>
          </p:cNvGraphicFramePr>
          <p:nvPr/>
        </p:nvGraphicFramePr>
        <p:xfrm>
          <a:off x="571500" y="1190625"/>
          <a:ext cx="11048998" cy="323202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325880"/>
                <a:gridCol w="1988819"/>
                <a:gridCol w="3867150"/>
                <a:gridCol w="1988819"/>
                <a:gridCol w="1878330"/>
              </a:tblGrid>
              <a:tr h="453390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版本</a:t>
                      </a:r>
                      <a:endParaRPr sz="1200" b="1" noProof="1">
                        <a:solidFill>
                          <a:srgbClr val="FFFFFF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核心策略</a:t>
                      </a:r>
                      <a:endParaRPr sz="1200" b="1" noProof="1">
                        <a:solidFill>
                          <a:srgbClr val="FFFFFF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详细配置</a:t>
                      </a:r>
                      <a:endParaRPr sz="1200" b="1" noProof="1">
                        <a:solidFill>
                          <a:srgbClr val="FFFFFF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最佳准确率</a:t>
                      </a:r>
                      <a:endParaRPr sz="1200" b="1" noProof="1">
                        <a:solidFill>
                          <a:srgbClr val="FFFFFF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FFFFFF"/>
                          </a:solidFill>
                          <a:latin typeface="MiSans"/>
                          <a:ea typeface="MiSans"/>
                        </a:rPr>
                        <a:t>早停epoch</a:t>
                      </a:r>
                      <a:endParaRPr sz="1200" b="1" noProof="1">
                        <a:solidFill>
                          <a:srgbClr val="FFFFFF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0066CC"/>
                    </a:solidFill>
                  </a:tcPr>
                </a:tc>
              </a:tr>
              <a:tr h="46310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V2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基线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Adam + Warmup + Cosine + dropout=0.5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83.33%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85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310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V3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类别加权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Class Weighting (A权重2.2x)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83.75%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41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46310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V4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Focal Loss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FL(p_t) = -α(1-p_t)^γ log(p_t), γ=2.0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83.33%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113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310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V5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数据增强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弱类别×3 (A,F,4)，时域平移+噪声+振幅缩放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84.17%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123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  <a:tr h="46310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V6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Deep SNN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4层PLIF + Temporal Coding (exp, τ=3.0)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83.75%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141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63105"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通用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b="1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基础配置</a:t>
                      </a:r>
                      <a:endParaRPr sz="1200" b="1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T=12, batch=256, patience=80, epochs=300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—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  <a:tc>
                  <a:txBody>
                    <a:bodyPr wrap="square">
                      <a:spAutoFit/>
                    </a:bodyPr>
                    <a:lstStyle/>
                    <a:p>
                      <a:pPr algn="ctr"/>
                      <a:r>
                        <a:rPr sz="1200" noProof="1">
                          <a:solidFill>
                            <a:srgbClr val="1F2937"/>
                          </a:solidFill>
                          <a:latin typeface="MiSans"/>
                          <a:ea typeface="MiSans"/>
                        </a:rPr>
                        <a:t>—</a:t>
                      </a:r>
                      <a:endParaRPr sz="1200" noProof="1">
                        <a:solidFill>
                          <a:srgbClr val="1F2937"/>
                        </a:solidFill>
                        <a:latin typeface="MiSans"/>
                        <a:ea typeface="MiSans"/>
                      </a:endParaRPr>
                    </a:p>
                  </a:txBody>
                  <a:tcPr marT="0" marB="0" anchor="ctr">
                    <a:lnL w="12700" cap="flat" cmpd="sng" algn="ctr">
                      <a:solidFill>
                        <a:srgbClr val="E0E0E0"/>
                      </a:solidFill>
                      <a:prstDash val="soli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</a:lnB>
                    <a:solidFill>
                      <a:srgbClr val="F0F7FF"/>
                    </a:solidFill>
                  </a:tcPr>
                </a:tc>
              </a:tr>
            </a:tbl>
          </a:graphicData>
        </a:graphic>
      </p:graphicFrame>
      <p:sp>
        <p:nvSpPr>
          <p:cNvPr id="6" name="dsl:insight-card-bg"/>
          <p:cNvSpPr/>
          <p:nvPr/>
        </p:nvSpPr>
        <p:spPr>
          <a:xfrm>
            <a:off x="571500" y="4619625"/>
            <a:ext cx="11049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insight-title"/>
          <p:cNvSpPr txBox="1"/>
          <p:nvPr/>
        </p:nvSpPr>
        <p:spPr>
          <a:xfrm>
            <a:off x="762000" y="4762500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400" b="1" noProof="1">
                <a:solidFill>
                  <a:srgbClr val="003366"/>
                </a:solidFill>
                <a:latin typeface="MiSans"/>
                <a:ea typeface="MiSans"/>
              </a:rPr>
              <a:t>关键</a:t>
            </a:r>
            <a:endParaRPr sz="2400" b="1" noProof="1">
              <a:solidFill>
                <a:srgbClr val="003366"/>
              </a:solidFill>
              <a:latin typeface="MiSans"/>
              <a:ea typeface="MiSans"/>
            </a:endParaRPr>
          </a:p>
        </p:txBody>
      </p:sp>
      <p:sp>
        <p:nvSpPr>
          <p:cNvPr id="8" name="dsl:insight-content|s=$bodyDark"/>
          <p:cNvSpPr txBox="1"/>
          <p:nvPr/>
        </p:nvSpPr>
        <p:spPr>
          <a:xfrm>
            <a:off x="762000" y="5143500"/>
            <a:ext cx="106680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600" b="1" noProof="1">
                <a:solidFill>
                  <a:srgbClr val="1F2937"/>
                </a:solidFill>
                <a:latin typeface="MiSans"/>
                <a:ea typeface="MiSans"/>
              </a:rPr>
              <a:t>1. V5数据增强最有效：</a:t>
            </a:r>
            <a:r>
              <a:rPr sz="1600" noProof="1">
                <a:solidFill>
                  <a:srgbClr val="1F2937"/>
                </a:solidFill>
                <a:latin typeface="MiSans"/>
                <a:ea typeface="MiSans"/>
              </a:rPr>
              <a:t>弱类别4从50%→83.3%（+33.3%），整体突破84%</a:t>
            </a:r>
            <a:endParaRPr sz="160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b="1" noProof="1">
                <a:solidFill>
                  <a:srgbClr val="1F2937"/>
                </a:solidFill>
                <a:latin typeface="MiSans"/>
                <a:ea typeface="MiSans"/>
              </a:rPr>
              <a:t>2. V6加深SNN：</a:t>
            </a:r>
            <a:r>
              <a:rPr sz="1600" noProof="1">
                <a:solidFill>
                  <a:srgbClr val="1F2937"/>
                </a:solidFill>
                <a:latin typeface="MiSans"/>
                <a:ea typeface="MiSans"/>
              </a:rPr>
              <a:t>4层PLIF+Temporal Coding</a:t>
            </a:r>
            <a:endParaRPr sz="160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600" b="1" noProof="1">
                <a:solidFill>
                  <a:srgbClr val="1F2937"/>
                </a:solidFill>
                <a:latin typeface="MiSans"/>
                <a:ea typeface="MiSans"/>
              </a:rPr>
              <a:t>3. 物理极限：</a:t>
            </a:r>
            <a:r>
              <a:rPr sz="1600" noProof="1">
                <a:solidFill>
                  <a:srgbClr val="1F2937"/>
                </a:solidFill>
                <a:latin typeface="MiSans"/>
                <a:ea typeface="MiSans"/>
              </a:rPr>
              <a:t>A类33.3%是1s FFT分辨率限制（1Hz），与训练策略无关</a:t>
            </a:r>
            <a:endParaRPr sz="1600" noProof="1">
              <a:solidFill>
                <a:srgbClr val="1F2937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50000">
              <a:srgbClr val="004D80"/>
            </a:gs>
            <a:gs pos="100000">
              <a:srgbClr val="001A3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ch4-num"/>
          <p:cNvSpPr txBox="1"/>
          <p:nvPr/>
        </p:nvSpPr>
        <p:spPr>
          <a:xfrm>
            <a:off x="571500" y="1905000"/>
            <a:ext cx="1905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6000" noProof="1">
                <a:solidFill>
                  <a:srgbClr val="00D2FF">
                    <a:alpha val="12549"/>
                  </a:srgbClr>
                </a:solidFill>
                <a:latin typeface="MiSans"/>
                <a:ea typeface="MiSans"/>
              </a:rPr>
              <a:t>04</a:t>
            </a:r>
            <a:endParaRPr sz="6000" noProof="1">
              <a:solidFill>
                <a:srgbClr val="00D2FF">
                  <a:alpha val="12549"/>
                </a:srgbClr>
              </a:solidFill>
              <a:latin typeface="MiSans"/>
              <a:ea typeface="MiSans"/>
            </a:endParaRPr>
          </a:p>
        </p:txBody>
      </p:sp>
      <p:sp>
        <p:nvSpPr>
          <p:cNvPr id="3" name="dsl:ch4-title|s=$title"/>
          <p:cNvSpPr txBox="1"/>
          <p:nvPr/>
        </p:nvSpPr>
        <p:spPr>
          <a:xfrm>
            <a:off x="571500" y="304800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FFFFFF"/>
                </a:solidFill>
                <a:latin typeface="MiSans"/>
                <a:ea typeface="MiSans"/>
              </a:rPr>
              <a:t>实验结果</a:t>
            </a:r>
            <a:endParaRPr sz="30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4" name="dsl:ch4-subtitle|s=$subtitle"/>
          <p:cNvSpPr txBox="1"/>
          <p:nvPr/>
        </p:nvSpPr>
        <p:spPr>
          <a:xfrm>
            <a:off x="571500" y="3810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A0A0A0"/>
                </a:solidFill>
                <a:latin typeface="MiSans"/>
                <a:ea typeface="MiSans"/>
              </a:rPr>
              <a:t>模型准确率、类别分析与消融对比</a:t>
            </a:r>
            <a:endParaRPr sz="15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cxnSp>
        <p:nvCxnSpPr>
          <p:cNvPr id="5" name="dsl:ch4-line"/>
          <p:cNvCxnSpPr/>
          <p:nvPr/>
        </p:nvCxnSpPr>
        <p:spPr>
          <a:xfrm>
            <a:off x="571500" y="4381500"/>
            <a:ext cx="2857500" cy="0"/>
          </a:xfrm>
          <a:prstGeom prst="straightConnector1">
            <a:avLst/>
          </a:prstGeom>
          <a:ln w="38100">
            <a:solidFill>
              <a:srgbClr val="00D2F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sl:ch4-deco-circle"/>
          <p:cNvSpPr/>
          <p:nvPr/>
        </p:nvSpPr>
        <p:spPr>
          <a:xfrm>
            <a:off x="9525000" y="3810000"/>
            <a:ext cx="1905000" cy="1905000"/>
          </a:xfrm>
          <a:prstGeom prst="ellipse">
            <a:avLst/>
          </a:prstGeom>
          <a:solidFill>
            <a:srgbClr val="00D2FF">
              <a:alpha val="62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itle"/>
          <p:cNvSpPr txBox="1"/>
          <p:nvPr/>
        </p:nvSpPr>
        <p:spPr>
          <a:xfrm>
            <a:off x="571500" y="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A0A0A0"/>
                </a:solidFill>
                <a:latin typeface="MiSans"/>
                <a:ea typeface="MiSans"/>
              </a:rPr>
              <a:t>04 实验结果</a:t>
            </a:r>
            <a:endParaRPr sz="12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sp>
        <p:nvSpPr>
          <p:cNvPr id="4" name="dsl:page-title|s=$pageTitle"/>
          <p:cNvSpPr txBox="1"/>
          <p:nvPr/>
        </p:nvSpPr>
        <p:spPr>
          <a:xfrm>
            <a:off x="571500" y="666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1F2937"/>
                </a:solidFill>
                <a:latin typeface="MiSans"/>
                <a:ea typeface="MiSans"/>
              </a:rPr>
              <a:t>训练曲线与模型对比</a:t>
            </a:r>
            <a:endParaRPr sz="2100" b="1" noProof="1">
              <a:solidFill>
                <a:srgbClr val="1F2937"/>
              </a:solidFill>
              <a:latin typeface="MiSans"/>
              <a:ea typeface="MiSans"/>
            </a:endParaRPr>
          </a:p>
        </p:txBody>
      </p:sp>
      <p:pic>
        <p:nvPicPr>
          <p:cNvPr id="5" name="dsl:curves-image" descr="D:\学习资料\BCI\40分类\ppt_work\images\trai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670" y="1385570"/>
            <a:ext cx="8037195" cy="2358390"/>
          </a:xfrm>
          <a:prstGeom prst="roundRect">
            <a:avLst>
              <a:gd name="adj" fmla="val 5000"/>
            </a:avLst>
          </a:prstGeom>
          <a:ln>
            <a:noFill/>
          </a:ln>
          <a:effectLst/>
        </p:spPr>
      </p:pic>
      <p:sp>
        <p:nvSpPr>
          <p:cNvPr id="6" name="dsl:metrics-card-bg"/>
          <p:cNvSpPr/>
          <p:nvPr/>
        </p:nvSpPr>
        <p:spPr>
          <a:xfrm>
            <a:off x="8391525" y="1042035"/>
            <a:ext cx="361950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metrics-title"/>
          <p:cNvSpPr txBox="1"/>
          <p:nvPr/>
        </p:nvSpPr>
        <p:spPr>
          <a:xfrm>
            <a:off x="8582025" y="1276985"/>
            <a:ext cx="32385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003366"/>
                </a:solidFill>
                <a:latin typeface="MiSans"/>
                <a:ea typeface="MiSans"/>
              </a:rPr>
              <a:t>核心指标</a:t>
            </a:r>
            <a:endParaRPr sz="1500" b="1" noProof="1">
              <a:solidFill>
                <a:srgbClr val="003366"/>
              </a:solidFill>
              <a:latin typeface="MiSans"/>
              <a:ea typeface="MiSans"/>
            </a:endParaRPr>
          </a:p>
        </p:txBody>
      </p:sp>
      <p:sp>
        <p:nvSpPr>
          <p:cNvPr id="8" name="dsl:metrics-content|s=$bodyDark"/>
          <p:cNvSpPr txBox="1"/>
          <p:nvPr/>
        </p:nvSpPr>
        <p:spPr>
          <a:xfrm>
            <a:off x="8631555" y="1484630"/>
            <a:ext cx="3238500" cy="24765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1F2937"/>
                </a:solidFill>
                <a:latin typeface="MiSans"/>
                <a:ea typeface="MiSans"/>
              </a:rPr>
              <a:t>V5 最佳：</a:t>
            </a:r>
            <a:endParaRPr sz="1200" b="1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准确率：</a:t>
            </a:r>
            <a:r>
              <a:rPr sz="1200" b="1" noProof="1">
                <a:solidFill>
                  <a:srgbClr val="E94560"/>
                </a:solidFill>
                <a:latin typeface="MiSans"/>
                <a:ea typeface="MiSans"/>
              </a:rPr>
              <a:t>84.17%</a:t>
            </a:r>
            <a:endParaRPr sz="1200" b="1" noProof="1">
              <a:solidFill>
                <a:srgbClr val="E94560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epoch：</a:t>
            </a:r>
            <a:r>
              <a:rPr sz="1200" b="1" noProof="1">
                <a:solidFill>
                  <a:srgbClr val="1F2937"/>
                </a:solidFill>
                <a:latin typeface="MiSans"/>
                <a:ea typeface="MiSans"/>
              </a:rPr>
              <a:t>123</a:t>
            </a:r>
            <a:endParaRPr sz="1200" b="1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ITR：</a:t>
            </a:r>
            <a:r>
              <a:rPr sz="1200" b="1" noProof="1">
                <a:solidFill>
                  <a:srgbClr val="1F2937"/>
                </a:solidFill>
                <a:latin typeface="MiSans"/>
                <a:ea typeface="MiSans"/>
              </a:rPr>
              <a:t>154.19</a:t>
            </a: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 bits/min</a:t>
            </a:r>
            <a:endParaRPr sz="120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1F2937"/>
                </a:solidFill>
                <a:latin typeface="MiSans"/>
                <a:ea typeface="MiSans"/>
              </a:rPr>
              <a:t>V6 最佳：</a:t>
            </a:r>
            <a:endParaRPr sz="1200" b="1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准确率：</a:t>
            </a:r>
            <a:r>
              <a:rPr sz="1200" b="1" noProof="1">
                <a:solidFill>
                  <a:srgbClr val="E94560"/>
                </a:solidFill>
                <a:latin typeface="MiSans"/>
                <a:ea typeface="MiSans"/>
              </a:rPr>
              <a:t>83.75%</a:t>
            </a:r>
            <a:endParaRPr sz="1200" b="1" noProof="1">
              <a:solidFill>
                <a:srgbClr val="E94560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epoch：</a:t>
            </a:r>
            <a:r>
              <a:rPr sz="1200" b="1" noProof="1">
                <a:solidFill>
                  <a:srgbClr val="1F2937"/>
                </a:solidFill>
                <a:latin typeface="MiSans"/>
                <a:ea typeface="MiSans"/>
              </a:rPr>
              <a:t>141</a:t>
            </a:r>
            <a:endParaRPr sz="1200" b="1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ITR：</a:t>
            </a:r>
            <a:r>
              <a:rPr sz="1200" b="1" noProof="1">
                <a:solidFill>
                  <a:srgbClr val="1F2937"/>
                </a:solidFill>
                <a:latin typeface="MiSans"/>
                <a:ea typeface="MiSans"/>
              </a:rPr>
              <a:t>152.91</a:t>
            </a: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 bits/min</a:t>
            </a:r>
            <a:endParaRPr sz="1200" noProof="1">
              <a:solidFill>
                <a:srgbClr val="1F2937"/>
              </a:solidFill>
              <a:latin typeface="MiSans"/>
              <a:ea typeface="MiSans"/>
            </a:endParaRPr>
          </a:p>
        </p:txBody>
      </p:sp>
      <p:pic>
        <p:nvPicPr>
          <p:cNvPr id="9" name="dsl:comparison-image" descr="D:\学习资料\BCI\40分类\ppt_work\images\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465" y="3961130"/>
            <a:ext cx="5379085" cy="2658745"/>
          </a:xfrm>
          <a:prstGeom prst="roundRect">
            <a:avLst>
              <a:gd name="adj" fmla="val 5000"/>
            </a:avLst>
          </a:prstGeom>
          <a:ln>
            <a:noFill/>
          </a:ln>
          <a:effectLst/>
        </p:spPr>
      </p:pic>
      <p:sp>
        <p:nvSpPr>
          <p:cNvPr id="10" name="dsl:conclusion-card-bg"/>
          <p:cNvSpPr/>
          <p:nvPr/>
        </p:nvSpPr>
        <p:spPr>
          <a:xfrm>
            <a:off x="6572250" y="4667250"/>
            <a:ext cx="5048250" cy="1905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conclusion-title"/>
          <p:cNvSpPr txBox="1"/>
          <p:nvPr/>
        </p:nvSpPr>
        <p:spPr>
          <a:xfrm>
            <a:off x="6762750" y="4810125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003366"/>
                </a:solidFill>
                <a:latin typeface="MiSans"/>
                <a:ea typeface="MiSans"/>
              </a:rPr>
              <a:t>实验结论</a:t>
            </a:r>
            <a:endParaRPr sz="1500" b="1" noProof="1">
              <a:solidFill>
                <a:srgbClr val="003366"/>
              </a:solidFill>
              <a:latin typeface="MiSans"/>
              <a:ea typeface="MiSans"/>
            </a:endParaRPr>
          </a:p>
        </p:txBody>
      </p:sp>
      <p:sp>
        <p:nvSpPr>
          <p:cNvPr id="12" name="dsl:conclusion-content|s=$bodyDark"/>
          <p:cNvSpPr txBox="1"/>
          <p:nvPr/>
        </p:nvSpPr>
        <p:spPr>
          <a:xfrm>
            <a:off x="6762750" y="5191125"/>
            <a:ext cx="466725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• 1s数据、11通道、40类，</a:t>
            </a:r>
            <a:r>
              <a:rPr sz="1200" b="1" noProof="1">
                <a:solidFill>
                  <a:srgbClr val="1F2937"/>
                </a:solidFill>
                <a:latin typeface="MiSans"/>
                <a:ea typeface="MiSans"/>
              </a:rPr>
              <a:t>84.17%</a:t>
            </a:r>
            <a:endParaRPr sz="120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• 数据增强（V5）最有效，提升弱类别</a:t>
            </a:r>
            <a:endParaRPr sz="120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• A类33.3%为1s FFT分辨率物理极限</a:t>
            </a:r>
            <a:endParaRPr sz="1200" noProof="1">
              <a:solidFill>
                <a:srgbClr val="1F2937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图片 1" descr="v5_per_class_accurac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6045" y="946150"/>
            <a:ext cx="12192000" cy="45275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033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itle"/>
          <p:cNvSpPr txBox="1"/>
          <p:nvPr/>
        </p:nvSpPr>
        <p:spPr>
          <a:xfrm>
            <a:off x="571500" y="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A0A0A0"/>
                </a:solidFill>
                <a:latin typeface="MiSans"/>
                <a:ea typeface="MiSans"/>
              </a:rPr>
              <a:t>04 实验结果</a:t>
            </a:r>
            <a:endParaRPr sz="12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sp>
        <p:nvSpPr>
          <p:cNvPr id="4" name="dsl:page-title|s=$pageTitle"/>
          <p:cNvSpPr txBox="1"/>
          <p:nvPr/>
        </p:nvSpPr>
        <p:spPr>
          <a:xfrm>
            <a:off x="571500" y="666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1F2937"/>
                </a:solidFill>
                <a:latin typeface="MiSans"/>
                <a:ea typeface="MiSans"/>
              </a:rPr>
              <a:t>逐类别准确率分析</a:t>
            </a:r>
            <a:endParaRPr sz="2100" b="1" noProof="1">
              <a:solidFill>
                <a:srgbClr val="1F2937"/>
              </a:solidFill>
              <a:latin typeface="MiSans"/>
              <a:ea typeface="MiSans"/>
            </a:endParaRPr>
          </a:p>
        </p:txBody>
      </p:sp>
      <p:sp>
        <p:nvSpPr>
          <p:cNvPr id="6" name="dsl:weak-card-bg"/>
          <p:cNvSpPr/>
          <p:nvPr/>
        </p:nvSpPr>
        <p:spPr>
          <a:xfrm>
            <a:off x="9429750" y="1190625"/>
            <a:ext cx="2190750" cy="32385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>
            <a:outerShdw blurRad="127000" dist="5080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weak-title"/>
          <p:cNvSpPr txBox="1"/>
          <p:nvPr/>
        </p:nvSpPr>
        <p:spPr>
          <a:xfrm>
            <a:off x="9525000" y="1333500"/>
            <a:ext cx="20002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350" b="1" noProof="1">
                <a:solidFill>
                  <a:srgbClr val="E94560"/>
                </a:solidFill>
                <a:latin typeface="MiSans"/>
                <a:ea typeface="MiSans"/>
              </a:rPr>
              <a:t>弱类别</a:t>
            </a:r>
            <a:endParaRPr sz="1350" b="1" noProof="1">
              <a:solidFill>
                <a:srgbClr val="E94560"/>
              </a:solidFill>
              <a:latin typeface="MiSans"/>
              <a:ea typeface="MiSans"/>
            </a:endParaRPr>
          </a:p>
        </p:txBody>
      </p:sp>
      <p:sp>
        <p:nvSpPr>
          <p:cNvPr id="8" name="dsl:weak-content|s=$bodyDark"/>
          <p:cNvSpPr txBox="1"/>
          <p:nvPr/>
        </p:nvSpPr>
        <p:spPr>
          <a:xfrm>
            <a:off x="9525000" y="1714500"/>
            <a:ext cx="2000250" cy="25717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050" b="1" noProof="1">
                <a:solidFill>
                  <a:srgbClr val="1F2937"/>
                </a:solidFill>
                <a:latin typeface="MiSans"/>
                <a:ea typeface="MiSans"/>
              </a:rPr>
              <a:t>A</a:t>
            </a:r>
            <a:r>
              <a:rPr sz="1050" noProof="1">
                <a:solidFill>
                  <a:srgbClr val="1F2937"/>
                </a:solidFill>
                <a:latin typeface="MiSans"/>
                <a:ea typeface="MiSans"/>
              </a:rPr>
              <a:t> (33.3%)</a:t>
            </a:r>
            <a:endParaRPr sz="105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1F2937"/>
                </a:solidFill>
                <a:latin typeface="MiSans"/>
                <a:ea typeface="MiSans"/>
              </a:rPr>
              <a:t>8.0Hz混叠</a:t>
            </a:r>
            <a:endParaRPr sz="105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050" b="1" noProof="1">
                <a:solidFill>
                  <a:srgbClr val="1F2937"/>
                </a:solidFill>
                <a:latin typeface="MiSans"/>
                <a:ea typeface="MiSans"/>
              </a:rPr>
              <a:t>F</a:t>
            </a:r>
            <a:r>
              <a:rPr sz="1050" noProof="1">
                <a:solidFill>
                  <a:srgbClr val="1F2937"/>
                </a:solidFill>
                <a:latin typeface="MiSans"/>
                <a:ea typeface="MiSans"/>
              </a:rPr>
              <a:t> (50-67%)</a:t>
            </a:r>
            <a:endParaRPr sz="105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1F2937"/>
                </a:solidFill>
                <a:latin typeface="MiSans"/>
                <a:ea typeface="MiSans"/>
              </a:rPr>
              <a:t>10.4Hz模糊</a:t>
            </a:r>
            <a:endParaRPr sz="105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050" b="1" noProof="1">
                <a:solidFill>
                  <a:srgbClr val="1F2937"/>
                </a:solidFill>
                <a:latin typeface="MiSans"/>
                <a:ea typeface="MiSans"/>
              </a:rPr>
              <a:t>E</a:t>
            </a:r>
            <a:r>
              <a:rPr sz="1050" noProof="1">
                <a:solidFill>
                  <a:srgbClr val="1F2937"/>
                </a:solidFill>
                <a:latin typeface="MiSans"/>
                <a:ea typeface="MiSans"/>
              </a:rPr>
              <a:t> (66.7%)</a:t>
            </a:r>
            <a:endParaRPr sz="105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050" noProof="1">
                <a:solidFill>
                  <a:srgbClr val="1F2937"/>
                </a:solidFill>
                <a:latin typeface="MiSans"/>
                <a:ea typeface="MiSans"/>
              </a:rPr>
              <a:t>8.8Hz干扰</a:t>
            </a:r>
            <a:endParaRPr sz="105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050" b="1" noProof="1">
                <a:solidFill>
                  <a:srgbClr val="1F2937"/>
                </a:solidFill>
                <a:latin typeface="MiSans"/>
                <a:ea typeface="MiSans"/>
              </a:rPr>
              <a:t>4</a:t>
            </a:r>
            <a:r>
              <a:rPr sz="1050" noProof="1">
                <a:solidFill>
                  <a:srgbClr val="1F2937"/>
                </a:solidFill>
                <a:latin typeface="MiSans"/>
                <a:ea typeface="MiSans"/>
              </a:rPr>
              <a:t> (50-83%)</a:t>
            </a:r>
            <a:endParaRPr sz="105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endParaRPr sz="1050" noProof="1">
              <a:solidFill>
                <a:srgbClr val="1F2937"/>
              </a:solidFill>
              <a:latin typeface="MiSans"/>
              <a:ea typeface="MiSans"/>
            </a:endParaRPr>
          </a:p>
        </p:txBody>
      </p:sp>
      <p:sp>
        <p:nvSpPr>
          <p:cNvPr id="9" name="dsl:analysis-card-bg"/>
          <p:cNvSpPr/>
          <p:nvPr/>
        </p:nvSpPr>
        <p:spPr>
          <a:xfrm>
            <a:off x="571500" y="4667250"/>
            <a:ext cx="11049000" cy="1905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>
            <a:outerShdw blurRad="127000" dist="50800">
              <a:srgbClr val="000000">
                <a:alpha val="8235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sl:analysis-title"/>
          <p:cNvSpPr txBox="1"/>
          <p:nvPr/>
        </p:nvSpPr>
        <p:spPr>
          <a:xfrm>
            <a:off x="762000" y="4810125"/>
            <a:ext cx="381000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003366"/>
                </a:solidFill>
                <a:latin typeface="MiSans"/>
                <a:ea typeface="MiSans"/>
              </a:rPr>
              <a:t>类别分析</a:t>
            </a:r>
            <a:endParaRPr sz="1500" b="1" noProof="1">
              <a:solidFill>
                <a:srgbClr val="003366"/>
              </a:solidFill>
              <a:latin typeface="MiSans"/>
              <a:ea typeface="MiSans"/>
            </a:endParaRPr>
          </a:p>
        </p:txBody>
      </p:sp>
      <p:sp>
        <p:nvSpPr>
          <p:cNvPr id="11" name="dsl:analysis-content|s=$bodyDark"/>
          <p:cNvSpPr txBox="1"/>
          <p:nvPr/>
        </p:nvSpPr>
        <p:spPr>
          <a:xfrm>
            <a:off x="762000" y="5191125"/>
            <a:ext cx="10668000" cy="123825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200" b="1" noProof="1">
                <a:solidFill>
                  <a:srgbClr val="1F2937"/>
                </a:solidFill>
                <a:latin typeface="MiSans"/>
                <a:ea typeface="MiSans"/>
              </a:rPr>
              <a:t>1. A类（33.3%）：</a:t>
            </a: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1s FFT分辨率仅1Hz，8.0Hz与8.25Hz/8.5Hz严重混叠，无法突破</a:t>
            </a:r>
            <a:endParaRPr sz="120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200" b="1" noProof="1">
                <a:solidFill>
                  <a:srgbClr val="1F2937"/>
                </a:solidFill>
                <a:latin typeface="MiSans"/>
                <a:ea typeface="MiSans"/>
              </a:rPr>
              <a:t>2. 数据增强（V5）效果：</a:t>
            </a:r>
            <a:r>
              <a:rPr sz="1200" noProof="1">
                <a:solidFill>
                  <a:srgbClr val="1F2937"/>
                </a:solidFill>
                <a:latin typeface="MiSans"/>
                <a:ea typeface="MiSans"/>
              </a:rPr>
              <a:t>类别4从50%→83.3%（+33.3%），但对A/F无效</a:t>
            </a:r>
            <a:endParaRPr sz="1200" noProof="1">
              <a:solidFill>
                <a:srgbClr val="1F2937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endParaRPr sz="1200" noProof="1">
              <a:solidFill>
                <a:srgbClr val="1F2937"/>
              </a:solidFill>
              <a:latin typeface="MiSans"/>
              <a:ea typeface="MiSans"/>
            </a:endParaRPr>
          </a:p>
        </p:txBody>
      </p:sp>
      <p:pic>
        <p:nvPicPr>
          <p:cNvPr id="12" name="图片 11" descr="v5_per_class_accurac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265" y="1047750"/>
            <a:ext cx="9341485" cy="34690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50000">
              <a:srgbClr val="004D80"/>
            </a:gs>
            <a:gs pos="100000">
              <a:srgbClr val="001A33"/>
            </a:gs>
          </a:gsLst>
          <a:lin ang="81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ch5-num"/>
          <p:cNvSpPr txBox="1"/>
          <p:nvPr/>
        </p:nvSpPr>
        <p:spPr>
          <a:xfrm>
            <a:off x="571500" y="1905000"/>
            <a:ext cx="1905000" cy="952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6000" noProof="1">
                <a:solidFill>
                  <a:srgbClr val="00D2FF">
                    <a:alpha val="12549"/>
                  </a:srgbClr>
                </a:solidFill>
                <a:latin typeface="MiSans"/>
                <a:ea typeface="MiSans"/>
              </a:rPr>
              <a:t>05</a:t>
            </a:r>
            <a:endParaRPr sz="6000" noProof="1">
              <a:solidFill>
                <a:srgbClr val="00D2FF">
                  <a:alpha val="12549"/>
                </a:srgbClr>
              </a:solidFill>
              <a:latin typeface="MiSans"/>
              <a:ea typeface="MiSans"/>
            </a:endParaRPr>
          </a:p>
        </p:txBody>
      </p:sp>
      <p:sp>
        <p:nvSpPr>
          <p:cNvPr id="3" name="dsl:ch5-title|s=$title"/>
          <p:cNvSpPr txBox="1"/>
          <p:nvPr/>
        </p:nvSpPr>
        <p:spPr>
          <a:xfrm>
            <a:off x="571500" y="3048000"/>
            <a:ext cx="7620000" cy="5715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3000" b="1" noProof="1">
                <a:solidFill>
                  <a:srgbClr val="FFFFFF"/>
                </a:solidFill>
                <a:latin typeface="MiSans"/>
                <a:ea typeface="MiSans"/>
              </a:rPr>
              <a:t>Demo演示与总结</a:t>
            </a:r>
            <a:endParaRPr sz="30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4" name="dsl:ch5-subtitle|s=$subtitle"/>
          <p:cNvSpPr txBox="1"/>
          <p:nvPr/>
        </p:nvSpPr>
        <p:spPr>
          <a:xfrm>
            <a:off x="571500" y="3810000"/>
            <a:ext cx="66675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noProof="1">
                <a:solidFill>
                  <a:srgbClr val="A0A0A0"/>
                </a:solidFill>
                <a:latin typeface="MiSans"/>
                <a:ea typeface="MiSans"/>
              </a:rPr>
              <a:t>BCI打字交互系统与项目总结</a:t>
            </a:r>
            <a:endParaRPr sz="15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cxnSp>
        <p:nvCxnSpPr>
          <p:cNvPr id="5" name="dsl:ch5-line"/>
          <p:cNvCxnSpPr/>
          <p:nvPr/>
        </p:nvCxnSpPr>
        <p:spPr>
          <a:xfrm>
            <a:off x="571500" y="4381500"/>
            <a:ext cx="2857500" cy="0"/>
          </a:xfrm>
          <a:prstGeom prst="straightConnector1">
            <a:avLst/>
          </a:prstGeom>
          <a:ln w="38100">
            <a:solidFill>
              <a:srgbClr val="00D2FF"/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sl:ch5-deco-circle"/>
          <p:cNvSpPr/>
          <p:nvPr/>
        </p:nvSpPr>
        <p:spPr>
          <a:xfrm>
            <a:off x="9525000" y="3810000"/>
            <a:ext cx="1905000" cy="1905000"/>
          </a:xfrm>
          <a:prstGeom prst="ellipse">
            <a:avLst/>
          </a:prstGeom>
          <a:solidFill>
            <a:srgbClr val="00D2FF">
              <a:alpha val="6274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003366"/>
            </a:gs>
            <a:gs pos="100000">
              <a:srgbClr val="001A33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dsl:nav-bar"/>
          <p:cNvSpPr/>
          <p:nvPr/>
        </p:nvSpPr>
        <p:spPr>
          <a:xfrm>
            <a:off x="0" y="0"/>
            <a:ext cx="12192000" cy="476250"/>
          </a:xfrm>
          <a:prstGeom prst="rect">
            <a:avLst/>
          </a:prstGeom>
          <a:solidFill>
            <a:srgbClr val="002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dsl:nav-title"/>
          <p:cNvSpPr txBox="1"/>
          <p:nvPr/>
        </p:nvSpPr>
        <p:spPr>
          <a:xfrm>
            <a:off x="571500" y="0"/>
            <a:ext cx="3810000" cy="4762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200" noProof="1">
                <a:solidFill>
                  <a:srgbClr val="A0A0A0"/>
                </a:solidFill>
                <a:latin typeface="MiSans"/>
                <a:ea typeface="MiSans"/>
              </a:rPr>
              <a:t>05 Demo演示与总结</a:t>
            </a:r>
            <a:endParaRPr sz="1200" noProof="1">
              <a:solidFill>
                <a:srgbClr val="A0A0A0"/>
              </a:solidFill>
              <a:latin typeface="MiSans"/>
              <a:ea typeface="MiSans"/>
            </a:endParaRPr>
          </a:p>
        </p:txBody>
      </p:sp>
      <p:sp>
        <p:nvSpPr>
          <p:cNvPr id="4" name="dsl:page-title|s=$pageTitle"/>
          <p:cNvSpPr txBox="1"/>
          <p:nvPr/>
        </p:nvSpPr>
        <p:spPr>
          <a:xfrm>
            <a:off x="571500" y="666750"/>
            <a:ext cx="7620000" cy="38100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2100" b="1" noProof="1">
                <a:solidFill>
                  <a:srgbClr val="FFFFFF"/>
                </a:solidFill>
                <a:latin typeface="MiSans"/>
                <a:ea typeface="MiSans"/>
              </a:rPr>
              <a:t>BCI Brain-Typer 实时打字Demo</a:t>
            </a:r>
            <a:endParaRPr sz="2100" b="1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6" name="dsl:demo-info-bg"/>
          <p:cNvSpPr/>
          <p:nvPr/>
        </p:nvSpPr>
        <p:spPr>
          <a:xfrm>
            <a:off x="7524750" y="1190625"/>
            <a:ext cx="4095750" cy="3810000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dsl:demo-info-title"/>
          <p:cNvSpPr txBox="1"/>
          <p:nvPr/>
        </p:nvSpPr>
        <p:spPr>
          <a:xfrm>
            <a:off x="7715250" y="1333500"/>
            <a:ext cx="3714750" cy="285750"/>
          </a:xfrm>
          <a:prstGeom prst="rect">
            <a:avLst/>
          </a:prstGeom>
          <a:noFill/>
        </p:spPr>
        <p:txBody>
          <a:bodyPr wrap="none" anchor="ctr">
            <a:noAutofit/>
          </a:bodyPr>
          <a:lstStyle/>
          <a:p>
            <a:pPr algn="l"/>
            <a:r>
              <a:rPr sz="1500" b="1" noProof="1">
                <a:solidFill>
                  <a:srgbClr val="00D2FF"/>
                </a:solidFill>
                <a:latin typeface="MiSans"/>
                <a:ea typeface="MiSans"/>
              </a:rPr>
              <a:t>Demo性能指标</a:t>
            </a:r>
            <a:endParaRPr sz="1500" b="1" noProof="1">
              <a:solidFill>
                <a:srgbClr val="00D2FF"/>
              </a:solidFill>
              <a:latin typeface="MiSans"/>
              <a:ea typeface="MiSans"/>
            </a:endParaRPr>
          </a:p>
        </p:txBody>
      </p:sp>
      <p:sp>
        <p:nvSpPr>
          <p:cNvPr id="8" name="dsl:demo-info-content|s=$body"/>
          <p:cNvSpPr txBox="1"/>
          <p:nvPr/>
        </p:nvSpPr>
        <p:spPr>
          <a:xfrm>
            <a:off x="7715250" y="1663065"/>
            <a:ext cx="3714750" cy="3048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00D2FF"/>
                </a:solidFill>
                <a:latin typeface="MiSans"/>
                <a:ea typeface="MiSans"/>
              </a:rPr>
              <a:t>输入方式</a:t>
            </a:r>
            <a:endParaRPr sz="1200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物理键盘输入英文文本</a:t>
            </a:r>
            <a:endParaRPr sz="12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00D2FF"/>
                </a:solidFill>
                <a:latin typeface="MiSans"/>
                <a:ea typeface="MiSans"/>
              </a:rPr>
              <a:t>推理速度</a:t>
            </a:r>
            <a:endParaRPr sz="1200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0.05秒 / 字符</a:t>
            </a:r>
            <a:endParaRPr sz="12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00D2FF"/>
                </a:solidFill>
                <a:latin typeface="MiSans"/>
                <a:ea typeface="MiSans"/>
              </a:rPr>
              <a:t>平均准确率</a:t>
            </a:r>
            <a:endParaRPr sz="1200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约8</a:t>
            </a:r>
            <a:r>
              <a:rPr lang="en-US" sz="1200" noProof="1">
                <a:solidFill>
                  <a:srgbClr val="FFFFFF"/>
                </a:solidFill>
                <a:latin typeface="MiSans"/>
                <a:ea typeface="MiSans"/>
              </a:rPr>
              <a:t>0</a:t>
            </a: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%（300字符测试）</a:t>
            </a:r>
            <a:endParaRPr sz="12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00D2FF"/>
                </a:solidFill>
                <a:latin typeface="MiSans"/>
                <a:ea typeface="MiSans"/>
              </a:rPr>
              <a:t>ITR</a:t>
            </a:r>
            <a:endParaRPr sz="1200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145.2 bits/min</a:t>
            </a:r>
            <a:endParaRPr sz="12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b="1" noProof="1">
                <a:solidFill>
                  <a:srgbClr val="00D2FF"/>
                </a:solidFill>
                <a:latin typeface="MiSans"/>
                <a:ea typeface="MiSans"/>
              </a:rPr>
              <a:t>数据来源</a:t>
            </a:r>
            <a:endParaRPr sz="1200" b="1" noProof="1">
              <a:solidFill>
                <a:srgbClr val="00D2FF"/>
              </a:solidFill>
              <a:latin typeface="MiSans"/>
              <a:ea typeface="MiSans"/>
            </a:endParaRPr>
          </a:p>
          <a:p>
            <a:pPr algn="l">
              <a:lnSpc>
                <a:spcPct val="180000"/>
              </a:lnSpc>
            </a:pPr>
            <a:r>
              <a:rPr sz="1200" noProof="1">
                <a:solidFill>
                  <a:srgbClr val="FFFFFF"/>
                </a:solidFill>
                <a:latin typeface="MiSans"/>
                <a:ea typeface="MiSans"/>
              </a:rPr>
              <a:t>S35真实EEG trial</a:t>
            </a:r>
            <a:endParaRPr sz="1200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  <p:sp>
        <p:nvSpPr>
          <p:cNvPr id="10" name="dsl:demo-note-bg"/>
          <p:cNvSpPr/>
          <p:nvPr/>
        </p:nvSpPr>
        <p:spPr>
          <a:xfrm>
            <a:off x="895985" y="1851660"/>
            <a:ext cx="6320790" cy="2261235"/>
          </a:xfrm>
          <a:prstGeom prst="roundRect">
            <a:avLst>
              <a:gd name="adj" fmla="val 8000"/>
            </a:avLst>
          </a:prstGeom>
          <a:solidFill>
            <a:srgbClr val="0F3460"/>
          </a:solidFill>
          <a:ln w="12700">
            <a:solidFill>
              <a:srgbClr val="1A4D7A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sl:demo-note-content|s=$body"/>
          <p:cNvSpPr txBox="1"/>
          <p:nvPr/>
        </p:nvSpPr>
        <p:spPr>
          <a:xfrm>
            <a:off x="1310640" y="1991995"/>
            <a:ext cx="5619750" cy="11430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lnSpc>
                <a:spcPct val="170000"/>
              </a:lnSpc>
            </a:pPr>
            <a:r>
              <a:rPr sz="1600" b="1" noProof="1">
                <a:solidFill>
                  <a:srgbClr val="FFFFFF"/>
                </a:solidFill>
                <a:latin typeface="MiSans"/>
                <a:ea typeface="MiSans"/>
              </a:rPr>
              <a:t>核心流程：</a:t>
            </a:r>
            <a:endParaRPr sz="1600" b="1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1. 用户输入文本 → 2. 逐字符映射class_id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3. 从S35抽取对应EEG trial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4. V6模型推理 → 5. 实时显示目标vs预测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  <a:p>
            <a:pPr algn="l">
              <a:lnSpc>
                <a:spcPct val="170000"/>
              </a:lnSpc>
            </a:pPr>
            <a:r>
              <a:rPr sz="1600" noProof="1">
                <a:solidFill>
                  <a:srgbClr val="FFFFFF"/>
                </a:solidFill>
                <a:latin typeface="MiSans"/>
                <a:ea typeface="MiSans"/>
              </a:rPr>
              <a:t>绿色=正确，红色=错误，虚拟键盘高亮反馈</a:t>
            </a:r>
            <a:endParaRPr sz="1600" noProof="1">
              <a:solidFill>
                <a:srgbClr val="FFFFFF"/>
              </a:solidFill>
              <a:latin typeface="MiSans"/>
              <a:ea typeface="MiSan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dsl:demo-image" descr="D:\学习资料\BCI\40分类\ppt_work\images\demo_screensho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16685" y="566420"/>
            <a:ext cx="8282305" cy="5493385"/>
          </a:xfrm>
          <a:prstGeom prst="roundRect">
            <a:avLst>
              <a:gd name="adj" fmla="val 5000"/>
            </a:avLst>
          </a:prstGeom>
          <a:ln>
            <a:noFill/>
          </a:ln>
          <a:effectLst/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2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3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4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5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6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7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8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9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10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11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ags/tag12.xml><?xml version="1.0" encoding="utf-8"?>
<p:tagLst xmlns:p="http://schemas.openxmlformats.org/presentationml/2006/main">
  <p:tag name="KSO_WM_DIAGRAM_VIRTUALLY_FRAME" val="{&quot;height&quot;:322,&quot;left&quot;:28.2,&quot;top&quot;:98.7,&quot;width&quot;:888.6000000000001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3.xml"/></Relationships>
</file>

<file path=customXml/item1.xml><?xml version="1.0" encoding="utf-8"?>
<DslMetadata>
  <Colors>
    <Color name="primary" value="#003366"/>
    <Color name="secondary" value="#0066CC"/>
    <Color name="accent" value="#00D2FF"/>
    <Color name="accent2" value="#E94560"/>
    <Color name="background" value="#003366"/>
    <Color name="text" value="#FFFFFF"/>
    <Color name="textDark" value="#1F2937"/>
    <Color name="cardBg" value="#0F3460"/>
    <Color name="cardBgLight" value="#FFFFFF"/>
    <Color name="cardBorder" value="#1a4d7a"/>
    <Color name="gridLine" value="#1a4d7a80"/>
  </Colors>
  <TextStyles>
    <TextStyle name="title" font_size="44.0" color="$text" font_family="MiSans"/>
    <TextStyle name="pageTitle" font_size="28.0" color="$text" font_family="MiSans"/>
    <TextStyle name="subtitle" font_size="22.0" color="$accent" font_family="MiSans"/>
    <TextStyle name="body" font_size="18.0" color="$text" font_family="MiSans" line_height="1.6"/>
    <TextStyle name="bodyDark" font_size="18.0" color="$textDark" font_family="MiSans" line_height="1.6"/>
    <TextStyle name="caption" font_size="14.0" color="#a0a0a0" font_family="MiSans" line_height="1.4"/>
    <TextStyle name="chartLabel" font_size="12.0" color="#a0a0a0" font_family="MiSans"/>
  </TextStyles>
  <TableStyles>
    <TableStyle name="default" fontSize="16.0" fontFamily="MiSans" headerFill="$secondary" headerColor="#ffffff" headerBold="true" bodyFill="#ffffff,#f0f7ff" bodyColor="$textDark" firstColumnBold="false">
      <Border style="solid" width="1.0" color="#e0e0e0"/>
    </TableStyle>
  </TableStyles>
</DslMetadata>
</file>

<file path=customXml/itemProps13.xml><?xml version="1.0" encoding="utf-8"?>
<ds:datastoreItem xmlns:ds="http://schemas.openxmlformats.org/officeDocument/2006/customXml" ds:itemID="{FB912423-DF00-4678-B48B-412AEC4E6BC3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2641</Words>
  <Application>WPS 演示</Application>
  <PresentationFormat>On-screen Show (4:3)</PresentationFormat>
  <Paragraphs>308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0" baseType="lpstr">
      <vt:lpstr>Arial</vt:lpstr>
      <vt:lpstr>宋体</vt:lpstr>
      <vt:lpstr>Wingdings</vt:lpstr>
      <vt:lpstr>Arial</vt:lpstr>
      <vt:lpstr>MiSans</vt:lpstr>
      <vt:lpstr>MiSans Semibold</vt:lpstr>
      <vt:lpstr>Calibri</vt:lpstr>
      <vt:lpstr>微软雅黑</vt:lpstr>
      <vt:lpstr>Arial Unicode MS</vt:lpstr>
      <vt:lpstr>Calibri</vt:lpstr>
      <vt:lpstr>MiSans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宋宏略</cp:lastModifiedBy>
  <cp:revision>5</cp:revision>
  <dcterms:created xsi:type="dcterms:W3CDTF">2013-01-27T09:14:00Z</dcterms:created>
  <dcterms:modified xsi:type="dcterms:W3CDTF">2026-07-06T14:33:54Z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4BB96F376CA946B18B08C3E9DDD40CFA_12</vt:lpwstr>
  </property>
  <property fmtid="{D5CDD505-2E9C-101B-9397-08002B2CF9AE}" pid="3" name="KSOProductBuildVer">
    <vt:lpwstr>2052-12.1.0.24034</vt:lpwstr>
  </property>
</Properties>
</file>